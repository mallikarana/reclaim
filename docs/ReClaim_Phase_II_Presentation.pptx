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106D49-DA2A-40BB-8DCD-DDBD28EA9474}" type="datetimeFigureOut">
              <a:rPr lang="en-IN" smtClean="0"/>
              <a:t>09-10-2026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DFC34-8EA4-4B6A-9B76-2C80004F8FFF}" type="slidenum">
              <a:rPr lang="en-IN" smtClean="0"/>
              <a:t>‹#›</a:t>
            </a:fld>
            <a:endParaRPr lang="en-IN"/>
          </a:p>
        </p:txBody>
      </p:sp>
    </p:spTree>
    <p:extLst>
      <p:ext uri="{BB962C8B-B14F-4D97-AF65-F5344CB8AC3E}">
        <p14:creationId xmlns:p14="http://schemas.microsoft.com/office/powerpoint/2010/main" val="1438194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ReClaim, Team Vision and the purpose of this Phase-II review: show the working prototype (Modules 1-3) and the plan for the remaining modules.</a:t>
            </a:r>
            <a:endParaRPr lang="en-IN"/>
          </a:p>
        </p:txBody>
      </p:sp>
      <p:sp>
        <p:nvSpPr>
          <p:cNvPr id="4" name="Slide Number Placeholder 3"/>
          <p:cNvSpPr>
            <a:spLocks noGrp="1"/>
          </p:cNvSpPr>
          <p:nvPr>
            <p:ph type="sldNum" sz="quarter" idx="5"/>
          </p:nvPr>
        </p:nvSpPr>
        <p:spPr/>
        <p:txBody>
          <a:bodyPr/>
          <a:lstStyle/>
          <a:p>
            <a:fld id="{830DFC34-8EA4-4B6A-9B76-2C80004F8FFF}" type="slidenum">
              <a:rPr lang="en-IN" smtClean="0"/>
              <a:t>1</a:t>
            </a:fld>
            <a:endParaRPr lang="en-IN"/>
          </a:p>
        </p:txBody>
      </p:sp>
    </p:spTree>
    <p:extLst>
      <p:ext uri="{BB962C8B-B14F-4D97-AF65-F5344CB8AC3E}">
        <p14:creationId xmlns:p14="http://schemas.microsoft.com/office/powerpoint/2010/main" val="1588039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Team Vision has three members as listed in the Phase-I proposal. Fill in semester, section, domain and mentor details before presenting.</a:t>
            </a:r>
            <a:endParaRPr lang="en-IN"/>
          </a:p>
        </p:txBody>
      </p:sp>
      <p:sp>
        <p:nvSpPr>
          <p:cNvPr id="4" name="Slide Number Placeholder 3"/>
          <p:cNvSpPr>
            <a:spLocks noGrp="1"/>
          </p:cNvSpPr>
          <p:nvPr>
            <p:ph type="sldNum" sz="quarter" idx="5"/>
          </p:nvPr>
        </p:nvSpPr>
        <p:spPr/>
        <p:txBody>
          <a:bodyPr/>
          <a:lstStyle/>
          <a:p>
            <a:fld id="{830DFC34-8EA4-4B6A-9B76-2C80004F8FFF}" type="slidenum">
              <a:rPr lang="en-IN" smtClean="0"/>
              <a:t>2</a:t>
            </a:fld>
            <a:endParaRPr lang="en-IN"/>
          </a:p>
        </p:txBody>
      </p:sp>
    </p:spTree>
    <p:extLst>
      <p:ext uri="{BB962C8B-B14F-4D97-AF65-F5344CB8AC3E}">
        <p14:creationId xmlns:p14="http://schemas.microsoft.com/office/powerpoint/2010/main" val="2315111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real problem on campus and why a structured, central system with matching helps. Administrative features for the desk are planned, not built yet.</a:t>
            </a:r>
            <a:endParaRPr lang="en-IN"/>
          </a:p>
        </p:txBody>
      </p:sp>
      <p:sp>
        <p:nvSpPr>
          <p:cNvPr id="4" name="Slide Number Placeholder 3"/>
          <p:cNvSpPr>
            <a:spLocks noGrp="1"/>
          </p:cNvSpPr>
          <p:nvPr>
            <p:ph type="sldNum" sz="quarter" idx="5"/>
          </p:nvPr>
        </p:nvSpPr>
        <p:spPr/>
        <p:txBody>
          <a:bodyPr/>
          <a:lstStyle/>
          <a:p>
            <a:fld id="{830DFC34-8EA4-4B6A-9B76-2C80004F8FFF}" type="slidenum">
              <a:rPr lang="en-IN" smtClean="0"/>
              <a:t>3</a:t>
            </a:fld>
            <a:endParaRPr lang="en-IN"/>
          </a:p>
        </p:txBody>
      </p:sp>
    </p:spTree>
    <p:extLst>
      <p:ext uri="{BB962C8B-B14F-4D97-AF65-F5344CB8AC3E}">
        <p14:creationId xmlns:p14="http://schemas.microsoft.com/office/powerpoint/2010/main" val="565223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Objective 2 is achieved for the three Phase-II modules; claims, verification, notifications and admin remain planned. Testing so far: 23 unit tests plus manual browser testing.</a:t>
            </a:r>
            <a:endParaRPr lang="en-IN"/>
          </a:p>
        </p:txBody>
      </p:sp>
      <p:sp>
        <p:nvSpPr>
          <p:cNvPr id="4" name="Slide Number Placeholder 3"/>
          <p:cNvSpPr>
            <a:spLocks noGrp="1"/>
          </p:cNvSpPr>
          <p:nvPr>
            <p:ph type="sldNum" sz="quarter" idx="5"/>
          </p:nvPr>
        </p:nvSpPr>
        <p:spPr/>
        <p:txBody>
          <a:bodyPr/>
          <a:lstStyle/>
          <a:p>
            <a:fld id="{830DFC34-8EA4-4B6A-9B76-2C80004F8FFF}" type="slidenum">
              <a:rPr lang="en-IN" smtClean="0"/>
              <a:t>4</a:t>
            </a:fld>
            <a:endParaRPr lang="en-IN"/>
          </a:p>
        </p:txBody>
      </p:sp>
    </p:spTree>
    <p:extLst>
      <p:ext uri="{BB962C8B-B14F-4D97-AF65-F5344CB8AC3E}">
        <p14:creationId xmlns:p14="http://schemas.microsoft.com/office/powerpoint/2010/main" val="2470228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five stages. Stress that matching is rule-based and transparent. The planned items are clearly not part of this phase.</a:t>
            </a:r>
            <a:endParaRPr lang="en-IN"/>
          </a:p>
        </p:txBody>
      </p:sp>
      <p:sp>
        <p:nvSpPr>
          <p:cNvPr id="4" name="Slide Number Placeholder 3"/>
          <p:cNvSpPr>
            <a:spLocks noGrp="1"/>
          </p:cNvSpPr>
          <p:nvPr>
            <p:ph type="sldNum" sz="quarter" idx="5"/>
          </p:nvPr>
        </p:nvSpPr>
        <p:spPr/>
        <p:txBody>
          <a:bodyPr/>
          <a:lstStyle/>
          <a:p>
            <a:fld id="{830DFC34-8EA4-4B6A-9B76-2C80004F8FFF}" type="slidenum">
              <a:rPr lang="en-IN" smtClean="0"/>
              <a:t>5</a:t>
            </a:fld>
            <a:endParaRPr lang="en-IN"/>
          </a:p>
        </p:txBody>
      </p:sp>
    </p:spTree>
    <p:extLst>
      <p:ext uri="{BB962C8B-B14F-4D97-AF65-F5344CB8AC3E}">
        <p14:creationId xmlns:p14="http://schemas.microsoft.com/office/powerpoint/2010/main" val="248721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Course names are left to fill because the Phase-I proposal does not name the two PBL subjects. Only concepts visible in the code are listed. Transactions and multithreading are not claimed.</a:t>
            </a:r>
            <a:endParaRPr lang="en-IN"/>
          </a:p>
        </p:txBody>
      </p:sp>
      <p:sp>
        <p:nvSpPr>
          <p:cNvPr id="4" name="Slide Number Placeholder 3"/>
          <p:cNvSpPr>
            <a:spLocks noGrp="1"/>
          </p:cNvSpPr>
          <p:nvPr>
            <p:ph type="sldNum" sz="quarter" idx="5"/>
          </p:nvPr>
        </p:nvSpPr>
        <p:spPr/>
        <p:txBody>
          <a:bodyPr/>
          <a:lstStyle/>
          <a:p>
            <a:fld id="{830DFC34-8EA4-4B6A-9B76-2C80004F8FFF}" type="slidenum">
              <a:rPr lang="en-IN" smtClean="0"/>
              <a:t>6</a:t>
            </a:fld>
            <a:endParaRPr lang="en-IN"/>
          </a:p>
        </p:txBody>
      </p:sp>
    </p:spTree>
    <p:extLst>
      <p:ext uri="{BB962C8B-B14F-4D97-AF65-F5344CB8AC3E}">
        <p14:creationId xmlns:p14="http://schemas.microsoft.com/office/powerpoint/2010/main" val="1368264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Layered MVC: JSP views, Jakarta Servlet controllers, a service layer with the matching logic, DAOs using JDBC, and MariaDB. Matches are computed on request and not stored.</a:t>
            </a:r>
            <a:endParaRPr lang="en-IN"/>
          </a:p>
        </p:txBody>
      </p:sp>
      <p:sp>
        <p:nvSpPr>
          <p:cNvPr id="4" name="Slide Number Placeholder 3"/>
          <p:cNvSpPr>
            <a:spLocks noGrp="1"/>
          </p:cNvSpPr>
          <p:nvPr>
            <p:ph type="sldNum" sz="quarter" idx="5"/>
          </p:nvPr>
        </p:nvSpPr>
        <p:spPr/>
        <p:txBody>
          <a:bodyPr/>
          <a:lstStyle/>
          <a:p>
            <a:fld id="{830DFC34-8EA4-4B6A-9B76-2C80004F8FFF}" type="slidenum">
              <a:rPr lang="en-IN" smtClean="0"/>
              <a:t>7</a:t>
            </a:fld>
            <a:endParaRPr lang="en-IN"/>
          </a:p>
        </p:txBody>
      </p:sp>
    </p:spTree>
    <p:extLst>
      <p:ext uri="{BB962C8B-B14F-4D97-AF65-F5344CB8AC3E}">
        <p14:creationId xmlns:p14="http://schemas.microsoft.com/office/powerpoint/2010/main" val="2908462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stack is the one promised in the proposal; Tomcat 10.1 gives the current Jakarta APIs. Methodology was applied iteratively per module.</a:t>
            </a:r>
            <a:endParaRPr lang="en-IN"/>
          </a:p>
        </p:txBody>
      </p:sp>
      <p:sp>
        <p:nvSpPr>
          <p:cNvPr id="4" name="Slide Number Placeholder 3"/>
          <p:cNvSpPr>
            <a:spLocks noGrp="1"/>
          </p:cNvSpPr>
          <p:nvPr>
            <p:ph type="sldNum" sz="quarter" idx="5"/>
          </p:nvPr>
        </p:nvSpPr>
        <p:spPr/>
        <p:txBody>
          <a:bodyPr/>
          <a:lstStyle/>
          <a:p>
            <a:fld id="{830DFC34-8EA4-4B6A-9B76-2C80004F8FFF}" type="slidenum">
              <a:rPr lang="en-IN" smtClean="0"/>
              <a:t>8</a:t>
            </a:fld>
            <a:endParaRPr lang="en-IN"/>
          </a:p>
        </p:txBody>
      </p:sp>
    </p:spTree>
    <p:extLst>
      <p:ext uri="{BB962C8B-B14F-4D97-AF65-F5344CB8AC3E}">
        <p14:creationId xmlns:p14="http://schemas.microsoft.com/office/powerpoint/2010/main" val="2552535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Progress is backed by the Git history (bb70d4d, 2bde66b) and the test results. Contributions of other members must be filled in by the team; nothing is claimed for them here.</a:t>
            </a:r>
            <a:endParaRPr lang="en-IN"/>
          </a:p>
        </p:txBody>
      </p:sp>
      <p:sp>
        <p:nvSpPr>
          <p:cNvPr id="4" name="Slide Number Placeholder 3"/>
          <p:cNvSpPr>
            <a:spLocks noGrp="1"/>
          </p:cNvSpPr>
          <p:nvPr>
            <p:ph type="sldNum" sz="quarter" idx="5"/>
          </p:nvPr>
        </p:nvSpPr>
        <p:spPr/>
        <p:txBody>
          <a:bodyPr/>
          <a:lstStyle/>
          <a:p>
            <a:fld id="{830DFC34-8EA4-4B6A-9B76-2C80004F8FFF}" type="slidenum">
              <a:rPr lang="en-IN" smtClean="0"/>
              <a:t>9</a:t>
            </a:fld>
            <a:endParaRPr lang="en-IN"/>
          </a:p>
        </p:txBody>
      </p:sp>
    </p:spTree>
    <p:extLst>
      <p:ext uri="{BB962C8B-B14F-4D97-AF65-F5344CB8AC3E}">
        <p14:creationId xmlns:p14="http://schemas.microsoft.com/office/powerpoint/2010/main" val="760840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with what is done (Phase-II prototype) and what comes next (Phase-III). Full reference list with URLs is in the written progress report.</a:t>
            </a:r>
            <a:endParaRPr lang="en-IN"/>
          </a:p>
        </p:txBody>
      </p:sp>
      <p:sp>
        <p:nvSpPr>
          <p:cNvPr id="4" name="Slide Number Placeholder 3"/>
          <p:cNvSpPr>
            <a:spLocks noGrp="1"/>
          </p:cNvSpPr>
          <p:nvPr>
            <p:ph type="sldNum" sz="quarter" idx="5"/>
          </p:nvPr>
        </p:nvSpPr>
        <p:spPr/>
        <p:txBody>
          <a:bodyPr/>
          <a:lstStyle/>
          <a:p>
            <a:fld id="{830DFC34-8EA4-4B6A-9B76-2C80004F8FFF}" type="slidenum">
              <a:rPr lang="en-IN" smtClean="0"/>
              <a:t>10</a:t>
            </a:fld>
            <a:endParaRPr lang="en-IN"/>
          </a:p>
        </p:txBody>
      </p:sp>
    </p:spTree>
    <p:extLst>
      <p:ext uri="{BB962C8B-B14F-4D97-AF65-F5344CB8AC3E}">
        <p14:creationId xmlns:p14="http://schemas.microsoft.com/office/powerpoint/2010/main" val="3752791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18BE0-AAE1-FEE7-F3A1-E975B082CA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CF868FC-723D-3F01-550E-35F41A510C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A2732B-ABF8-CD40-2850-0F98CEE1F5E3}"/>
              </a:ext>
            </a:extLst>
          </p:cNvPr>
          <p:cNvSpPr>
            <a:spLocks noGrp="1"/>
          </p:cNvSpPr>
          <p:nvPr>
            <p:ph type="dt" sz="half" idx="10"/>
          </p:nvPr>
        </p:nvSpPr>
        <p:spPr/>
        <p:txBody>
          <a:bodyPr/>
          <a:lstStyle/>
          <a:p>
            <a:fld id="{81E5AC41-199C-4F50-92C3-4D43B29EE17D}" type="datetimeFigureOut">
              <a:rPr lang="en-IN" smtClean="0"/>
              <a:t>09-10-2026</a:t>
            </a:fld>
            <a:endParaRPr lang="en-IN"/>
          </a:p>
        </p:txBody>
      </p:sp>
      <p:sp>
        <p:nvSpPr>
          <p:cNvPr id="5" name="Footer Placeholder 4">
            <a:extLst>
              <a:ext uri="{FF2B5EF4-FFF2-40B4-BE49-F238E27FC236}">
                <a16:creationId xmlns:a16="http://schemas.microsoft.com/office/drawing/2014/main" id="{2D0D42C9-92C0-AC22-7566-31393C54F3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4654FB-D77C-BC22-FF5C-69892328934B}"/>
              </a:ext>
            </a:extLst>
          </p:cNvPr>
          <p:cNvSpPr>
            <a:spLocks noGrp="1"/>
          </p:cNvSpPr>
          <p:nvPr>
            <p:ph type="sldNum" sz="quarter" idx="12"/>
          </p:nvPr>
        </p:nvSpPr>
        <p:spPr/>
        <p:txBody>
          <a:bodyPr/>
          <a:lstStyle/>
          <a:p>
            <a:fld id="{E51DCD62-72EA-45EA-B2C8-B7D960A39789}" type="slidenum">
              <a:rPr lang="en-IN" smtClean="0"/>
              <a:t>‹#›</a:t>
            </a:fld>
            <a:endParaRPr lang="en-IN"/>
          </a:p>
        </p:txBody>
      </p:sp>
    </p:spTree>
    <p:extLst>
      <p:ext uri="{BB962C8B-B14F-4D97-AF65-F5344CB8AC3E}">
        <p14:creationId xmlns:p14="http://schemas.microsoft.com/office/powerpoint/2010/main" val="290181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12F73-D411-0350-D55B-A4E4864EC4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D0C33C-ACC2-C014-3503-1BB50E7091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EA32E5-3EB8-AEEF-1329-8685A226CD81}"/>
              </a:ext>
            </a:extLst>
          </p:cNvPr>
          <p:cNvSpPr>
            <a:spLocks noGrp="1"/>
          </p:cNvSpPr>
          <p:nvPr>
            <p:ph type="dt" sz="half" idx="10"/>
          </p:nvPr>
        </p:nvSpPr>
        <p:spPr/>
        <p:txBody>
          <a:bodyPr/>
          <a:lstStyle/>
          <a:p>
            <a:fld id="{81E5AC41-199C-4F50-92C3-4D43B29EE17D}" type="datetimeFigureOut">
              <a:rPr lang="en-IN" smtClean="0"/>
              <a:t>09-10-2026</a:t>
            </a:fld>
            <a:endParaRPr lang="en-IN"/>
          </a:p>
        </p:txBody>
      </p:sp>
      <p:sp>
        <p:nvSpPr>
          <p:cNvPr id="5" name="Footer Placeholder 4">
            <a:extLst>
              <a:ext uri="{FF2B5EF4-FFF2-40B4-BE49-F238E27FC236}">
                <a16:creationId xmlns:a16="http://schemas.microsoft.com/office/drawing/2014/main" id="{CD6AFA77-CA34-7ABB-A935-203403BBFE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DD8E70-14E5-536D-8B83-4F9B0DBFBCE2}"/>
              </a:ext>
            </a:extLst>
          </p:cNvPr>
          <p:cNvSpPr>
            <a:spLocks noGrp="1"/>
          </p:cNvSpPr>
          <p:nvPr>
            <p:ph type="sldNum" sz="quarter" idx="12"/>
          </p:nvPr>
        </p:nvSpPr>
        <p:spPr/>
        <p:txBody>
          <a:bodyPr/>
          <a:lstStyle/>
          <a:p>
            <a:fld id="{E51DCD62-72EA-45EA-B2C8-B7D960A39789}" type="slidenum">
              <a:rPr lang="en-IN" smtClean="0"/>
              <a:t>‹#›</a:t>
            </a:fld>
            <a:endParaRPr lang="en-IN"/>
          </a:p>
        </p:txBody>
      </p:sp>
    </p:spTree>
    <p:extLst>
      <p:ext uri="{BB962C8B-B14F-4D97-AF65-F5344CB8AC3E}">
        <p14:creationId xmlns:p14="http://schemas.microsoft.com/office/powerpoint/2010/main" val="2194798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5D1A3-7738-2C41-6FFB-E7714E1611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5A9109F-ACBB-2374-B6D3-CE77C8740D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A04F32-8039-2CBC-366E-AEA8B92371B4}"/>
              </a:ext>
            </a:extLst>
          </p:cNvPr>
          <p:cNvSpPr>
            <a:spLocks noGrp="1"/>
          </p:cNvSpPr>
          <p:nvPr>
            <p:ph type="dt" sz="half" idx="10"/>
          </p:nvPr>
        </p:nvSpPr>
        <p:spPr/>
        <p:txBody>
          <a:bodyPr/>
          <a:lstStyle/>
          <a:p>
            <a:fld id="{81E5AC41-199C-4F50-92C3-4D43B29EE17D}" type="datetimeFigureOut">
              <a:rPr lang="en-IN" smtClean="0"/>
              <a:t>09-10-2026</a:t>
            </a:fld>
            <a:endParaRPr lang="en-IN"/>
          </a:p>
        </p:txBody>
      </p:sp>
      <p:sp>
        <p:nvSpPr>
          <p:cNvPr id="5" name="Footer Placeholder 4">
            <a:extLst>
              <a:ext uri="{FF2B5EF4-FFF2-40B4-BE49-F238E27FC236}">
                <a16:creationId xmlns:a16="http://schemas.microsoft.com/office/drawing/2014/main" id="{7D124D39-CB3C-793E-BD77-20C4D4E023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098F39-1FA5-C6E2-09A3-783F30FDA378}"/>
              </a:ext>
            </a:extLst>
          </p:cNvPr>
          <p:cNvSpPr>
            <a:spLocks noGrp="1"/>
          </p:cNvSpPr>
          <p:nvPr>
            <p:ph type="sldNum" sz="quarter" idx="12"/>
          </p:nvPr>
        </p:nvSpPr>
        <p:spPr/>
        <p:txBody>
          <a:bodyPr/>
          <a:lstStyle/>
          <a:p>
            <a:fld id="{E51DCD62-72EA-45EA-B2C8-B7D960A39789}" type="slidenum">
              <a:rPr lang="en-IN" smtClean="0"/>
              <a:t>‹#›</a:t>
            </a:fld>
            <a:endParaRPr lang="en-IN"/>
          </a:p>
        </p:txBody>
      </p:sp>
    </p:spTree>
    <p:extLst>
      <p:ext uri="{BB962C8B-B14F-4D97-AF65-F5344CB8AC3E}">
        <p14:creationId xmlns:p14="http://schemas.microsoft.com/office/powerpoint/2010/main" val="1307241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E63BF-900D-EE3C-7CDC-AAC08E73D1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D96DCE-4406-CD43-9216-1F98E1A2FB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00D45CF-6CE6-3076-46FA-30FB07952D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2F168D0-9AAC-4739-ABA8-81A3FB8A4A92}"/>
              </a:ext>
            </a:extLst>
          </p:cNvPr>
          <p:cNvSpPr>
            <a:spLocks noGrp="1"/>
          </p:cNvSpPr>
          <p:nvPr>
            <p:ph type="dt" sz="half" idx="10"/>
          </p:nvPr>
        </p:nvSpPr>
        <p:spPr/>
        <p:txBody>
          <a:bodyPr/>
          <a:lstStyle/>
          <a:p>
            <a:fld id="{81E5AC41-199C-4F50-92C3-4D43B29EE17D}" type="datetimeFigureOut">
              <a:rPr lang="en-IN" smtClean="0"/>
              <a:t>09-10-2026</a:t>
            </a:fld>
            <a:endParaRPr lang="en-IN"/>
          </a:p>
        </p:txBody>
      </p:sp>
      <p:sp>
        <p:nvSpPr>
          <p:cNvPr id="6" name="Footer Placeholder 5">
            <a:extLst>
              <a:ext uri="{FF2B5EF4-FFF2-40B4-BE49-F238E27FC236}">
                <a16:creationId xmlns:a16="http://schemas.microsoft.com/office/drawing/2014/main" id="{4C4F76D3-FF57-D266-58F1-7B58443CE7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8D684F-668D-19E7-BE27-80D431DA6EB6}"/>
              </a:ext>
            </a:extLst>
          </p:cNvPr>
          <p:cNvSpPr>
            <a:spLocks noGrp="1"/>
          </p:cNvSpPr>
          <p:nvPr>
            <p:ph type="sldNum" sz="quarter" idx="12"/>
          </p:nvPr>
        </p:nvSpPr>
        <p:spPr/>
        <p:txBody>
          <a:bodyPr/>
          <a:lstStyle/>
          <a:p>
            <a:fld id="{E51DCD62-72EA-45EA-B2C8-B7D960A39789}" type="slidenum">
              <a:rPr lang="en-IN" smtClean="0"/>
              <a:t>‹#›</a:t>
            </a:fld>
            <a:endParaRPr lang="en-IN"/>
          </a:p>
        </p:txBody>
      </p:sp>
    </p:spTree>
    <p:extLst>
      <p:ext uri="{BB962C8B-B14F-4D97-AF65-F5344CB8AC3E}">
        <p14:creationId xmlns:p14="http://schemas.microsoft.com/office/powerpoint/2010/main" val="3918485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CD330-0EB3-B2B9-9520-83D83EA38C4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FFBB97-7CA8-EEC4-E185-5B015077B7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E5CCB6-FACA-1517-64D3-E21707014F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9F4F1F-5E49-BCFA-25F6-3AD4F367C8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AD726E-B393-D086-038F-02294B69D6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3D178E-7331-66D3-9D60-0988702369B4}"/>
              </a:ext>
            </a:extLst>
          </p:cNvPr>
          <p:cNvSpPr>
            <a:spLocks noGrp="1"/>
          </p:cNvSpPr>
          <p:nvPr>
            <p:ph type="dt" sz="half" idx="10"/>
          </p:nvPr>
        </p:nvSpPr>
        <p:spPr/>
        <p:txBody>
          <a:bodyPr/>
          <a:lstStyle/>
          <a:p>
            <a:fld id="{81E5AC41-199C-4F50-92C3-4D43B29EE17D}" type="datetimeFigureOut">
              <a:rPr lang="en-IN" smtClean="0"/>
              <a:t>09-10-2026</a:t>
            </a:fld>
            <a:endParaRPr lang="en-IN"/>
          </a:p>
        </p:txBody>
      </p:sp>
      <p:sp>
        <p:nvSpPr>
          <p:cNvPr id="8" name="Footer Placeholder 7">
            <a:extLst>
              <a:ext uri="{FF2B5EF4-FFF2-40B4-BE49-F238E27FC236}">
                <a16:creationId xmlns:a16="http://schemas.microsoft.com/office/drawing/2014/main" id="{761E3B86-97AF-E544-5A5E-5A0ED1683C4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64F20BD-7990-29BF-1124-B191344D9808}"/>
              </a:ext>
            </a:extLst>
          </p:cNvPr>
          <p:cNvSpPr>
            <a:spLocks noGrp="1"/>
          </p:cNvSpPr>
          <p:nvPr>
            <p:ph type="sldNum" sz="quarter" idx="12"/>
          </p:nvPr>
        </p:nvSpPr>
        <p:spPr/>
        <p:txBody>
          <a:bodyPr/>
          <a:lstStyle/>
          <a:p>
            <a:fld id="{E51DCD62-72EA-45EA-B2C8-B7D960A39789}" type="slidenum">
              <a:rPr lang="en-IN" smtClean="0"/>
              <a:t>‹#›</a:t>
            </a:fld>
            <a:endParaRPr lang="en-IN"/>
          </a:p>
        </p:txBody>
      </p:sp>
    </p:spTree>
    <p:extLst>
      <p:ext uri="{BB962C8B-B14F-4D97-AF65-F5344CB8AC3E}">
        <p14:creationId xmlns:p14="http://schemas.microsoft.com/office/powerpoint/2010/main" val="1700056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43DA3-DAC0-46F9-60E1-1FCF7F0EF6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140355-D84D-661A-7690-2CCAEE4D0E31}"/>
              </a:ext>
            </a:extLst>
          </p:cNvPr>
          <p:cNvSpPr>
            <a:spLocks noGrp="1"/>
          </p:cNvSpPr>
          <p:nvPr>
            <p:ph type="dt" sz="half" idx="10"/>
          </p:nvPr>
        </p:nvSpPr>
        <p:spPr/>
        <p:txBody>
          <a:bodyPr/>
          <a:lstStyle/>
          <a:p>
            <a:fld id="{81E5AC41-199C-4F50-92C3-4D43B29EE17D}" type="datetimeFigureOut">
              <a:rPr lang="en-IN" smtClean="0"/>
              <a:t>09-10-2026</a:t>
            </a:fld>
            <a:endParaRPr lang="en-IN"/>
          </a:p>
        </p:txBody>
      </p:sp>
      <p:sp>
        <p:nvSpPr>
          <p:cNvPr id="4" name="Footer Placeholder 3">
            <a:extLst>
              <a:ext uri="{FF2B5EF4-FFF2-40B4-BE49-F238E27FC236}">
                <a16:creationId xmlns:a16="http://schemas.microsoft.com/office/drawing/2014/main" id="{0276EB22-2144-D137-5001-E695168E4F3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8C243A5-6696-0155-66EB-FD055F2D1F07}"/>
              </a:ext>
            </a:extLst>
          </p:cNvPr>
          <p:cNvSpPr>
            <a:spLocks noGrp="1"/>
          </p:cNvSpPr>
          <p:nvPr>
            <p:ph type="sldNum" sz="quarter" idx="12"/>
          </p:nvPr>
        </p:nvSpPr>
        <p:spPr/>
        <p:txBody>
          <a:bodyPr/>
          <a:lstStyle/>
          <a:p>
            <a:fld id="{E51DCD62-72EA-45EA-B2C8-B7D960A39789}" type="slidenum">
              <a:rPr lang="en-IN" smtClean="0"/>
              <a:t>‹#›</a:t>
            </a:fld>
            <a:endParaRPr lang="en-IN"/>
          </a:p>
        </p:txBody>
      </p:sp>
    </p:spTree>
    <p:extLst>
      <p:ext uri="{BB962C8B-B14F-4D97-AF65-F5344CB8AC3E}">
        <p14:creationId xmlns:p14="http://schemas.microsoft.com/office/powerpoint/2010/main" val="839414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B212F3-4754-BE15-8657-2A0A0E635A68}"/>
              </a:ext>
            </a:extLst>
          </p:cNvPr>
          <p:cNvSpPr>
            <a:spLocks noGrp="1"/>
          </p:cNvSpPr>
          <p:nvPr>
            <p:ph type="dt" sz="half" idx="10"/>
          </p:nvPr>
        </p:nvSpPr>
        <p:spPr/>
        <p:txBody>
          <a:bodyPr/>
          <a:lstStyle/>
          <a:p>
            <a:fld id="{81E5AC41-199C-4F50-92C3-4D43B29EE17D}" type="datetimeFigureOut">
              <a:rPr lang="en-IN" smtClean="0"/>
              <a:t>09-10-2026</a:t>
            </a:fld>
            <a:endParaRPr lang="en-IN"/>
          </a:p>
        </p:txBody>
      </p:sp>
      <p:sp>
        <p:nvSpPr>
          <p:cNvPr id="3" name="Footer Placeholder 2">
            <a:extLst>
              <a:ext uri="{FF2B5EF4-FFF2-40B4-BE49-F238E27FC236}">
                <a16:creationId xmlns:a16="http://schemas.microsoft.com/office/drawing/2014/main" id="{EEA1B74C-9803-931B-E30E-9C30751EDB9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6D5FE15-4242-D419-2645-570F50FE4D4F}"/>
              </a:ext>
            </a:extLst>
          </p:cNvPr>
          <p:cNvSpPr>
            <a:spLocks noGrp="1"/>
          </p:cNvSpPr>
          <p:nvPr>
            <p:ph type="sldNum" sz="quarter" idx="12"/>
          </p:nvPr>
        </p:nvSpPr>
        <p:spPr/>
        <p:txBody>
          <a:bodyPr/>
          <a:lstStyle/>
          <a:p>
            <a:fld id="{E51DCD62-72EA-45EA-B2C8-B7D960A39789}" type="slidenum">
              <a:rPr lang="en-IN" smtClean="0"/>
              <a:t>‹#›</a:t>
            </a:fld>
            <a:endParaRPr lang="en-IN"/>
          </a:p>
        </p:txBody>
      </p:sp>
    </p:spTree>
    <p:extLst>
      <p:ext uri="{BB962C8B-B14F-4D97-AF65-F5344CB8AC3E}">
        <p14:creationId xmlns:p14="http://schemas.microsoft.com/office/powerpoint/2010/main" val="3930463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27907-D4B1-D05F-72A0-627629EA60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32B66DE-6200-02F1-BA4D-098D934478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3578289-DAD6-F488-7E0E-EE355DD07C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6BA5FE-1782-06B7-7ED6-17D80B868AE7}"/>
              </a:ext>
            </a:extLst>
          </p:cNvPr>
          <p:cNvSpPr>
            <a:spLocks noGrp="1"/>
          </p:cNvSpPr>
          <p:nvPr>
            <p:ph type="dt" sz="half" idx="10"/>
          </p:nvPr>
        </p:nvSpPr>
        <p:spPr/>
        <p:txBody>
          <a:bodyPr/>
          <a:lstStyle/>
          <a:p>
            <a:fld id="{81E5AC41-199C-4F50-92C3-4D43B29EE17D}" type="datetimeFigureOut">
              <a:rPr lang="en-IN" smtClean="0"/>
              <a:t>09-10-2026</a:t>
            </a:fld>
            <a:endParaRPr lang="en-IN"/>
          </a:p>
        </p:txBody>
      </p:sp>
      <p:sp>
        <p:nvSpPr>
          <p:cNvPr id="6" name="Footer Placeholder 5">
            <a:extLst>
              <a:ext uri="{FF2B5EF4-FFF2-40B4-BE49-F238E27FC236}">
                <a16:creationId xmlns:a16="http://schemas.microsoft.com/office/drawing/2014/main" id="{231B591D-31E8-D94C-DDB7-0AE8352BDC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27F5B9-155D-E297-2195-1B91F18BEF1F}"/>
              </a:ext>
            </a:extLst>
          </p:cNvPr>
          <p:cNvSpPr>
            <a:spLocks noGrp="1"/>
          </p:cNvSpPr>
          <p:nvPr>
            <p:ph type="sldNum" sz="quarter" idx="12"/>
          </p:nvPr>
        </p:nvSpPr>
        <p:spPr/>
        <p:txBody>
          <a:bodyPr/>
          <a:lstStyle/>
          <a:p>
            <a:fld id="{E51DCD62-72EA-45EA-B2C8-B7D960A39789}" type="slidenum">
              <a:rPr lang="en-IN" smtClean="0"/>
              <a:t>‹#›</a:t>
            </a:fld>
            <a:endParaRPr lang="en-IN"/>
          </a:p>
        </p:txBody>
      </p:sp>
    </p:spTree>
    <p:extLst>
      <p:ext uri="{BB962C8B-B14F-4D97-AF65-F5344CB8AC3E}">
        <p14:creationId xmlns:p14="http://schemas.microsoft.com/office/powerpoint/2010/main" val="794779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0AB1D-C3B2-C81C-C361-D842318AF6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14D1BAA-A9D9-4B70-CBF7-9E51501CE09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9DC3115-78BC-5B6B-DE1A-FB6280503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48A000-E9B5-3089-9931-BB77C64F76A0}"/>
              </a:ext>
            </a:extLst>
          </p:cNvPr>
          <p:cNvSpPr>
            <a:spLocks noGrp="1"/>
          </p:cNvSpPr>
          <p:nvPr>
            <p:ph type="dt" sz="half" idx="10"/>
          </p:nvPr>
        </p:nvSpPr>
        <p:spPr/>
        <p:txBody>
          <a:bodyPr/>
          <a:lstStyle/>
          <a:p>
            <a:fld id="{81E5AC41-199C-4F50-92C3-4D43B29EE17D}" type="datetimeFigureOut">
              <a:rPr lang="en-IN" smtClean="0"/>
              <a:t>09-10-2026</a:t>
            </a:fld>
            <a:endParaRPr lang="en-IN"/>
          </a:p>
        </p:txBody>
      </p:sp>
      <p:sp>
        <p:nvSpPr>
          <p:cNvPr id="6" name="Footer Placeholder 5">
            <a:extLst>
              <a:ext uri="{FF2B5EF4-FFF2-40B4-BE49-F238E27FC236}">
                <a16:creationId xmlns:a16="http://schemas.microsoft.com/office/drawing/2014/main" id="{E8E573B7-F60B-A9C8-1670-34B6E99968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95C710-4C73-5E35-F58D-A0EA9F3D1113}"/>
              </a:ext>
            </a:extLst>
          </p:cNvPr>
          <p:cNvSpPr>
            <a:spLocks noGrp="1"/>
          </p:cNvSpPr>
          <p:nvPr>
            <p:ph type="sldNum" sz="quarter" idx="12"/>
          </p:nvPr>
        </p:nvSpPr>
        <p:spPr/>
        <p:txBody>
          <a:bodyPr/>
          <a:lstStyle/>
          <a:p>
            <a:fld id="{E51DCD62-72EA-45EA-B2C8-B7D960A39789}" type="slidenum">
              <a:rPr lang="en-IN" smtClean="0"/>
              <a:t>‹#›</a:t>
            </a:fld>
            <a:endParaRPr lang="en-IN"/>
          </a:p>
        </p:txBody>
      </p:sp>
    </p:spTree>
    <p:extLst>
      <p:ext uri="{BB962C8B-B14F-4D97-AF65-F5344CB8AC3E}">
        <p14:creationId xmlns:p14="http://schemas.microsoft.com/office/powerpoint/2010/main" val="402672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D6700-753C-766E-7987-94B8D6A984B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024E31-585E-14C1-0382-B29CDED1D9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03756D-3E4D-C7AB-E85D-A514F8A7A814}"/>
              </a:ext>
            </a:extLst>
          </p:cNvPr>
          <p:cNvSpPr>
            <a:spLocks noGrp="1"/>
          </p:cNvSpPr>
          <p:nvPr>
            <p:ph type="dt" sz="half" idx="10"/>
          </p:nvPr>
        </p:nvSpPr>
        <p:spPr/>
        <p:txBody>
          <a:bodyPr/>
          <a:lstStyle/>
          <a:p>
            <a:fld id="{81E5AC41-199C-4F50-92C3-4D43B29EE17D}" type="datetimeFigureOut">
              <a:rPr lang="en-IN" smtClean="0"/>
              <a:t>09-10-2026</a:t>
            </a:fld>
            <a:endParaRPr lang="en-IN"/>
          </a:p>
        </p:txBody>
      </p:sp>
      <p:sp>
        <p:nvSpPr>
          <p:cNvPr id="5" name="Footer Placeholder 4">
            <a:extLst>
              <a:ext uri="{FF2B5EF4-FFF2-40B4-BE49-F238E27FC236}">
                <a16:creationId xmlns:a16="http://schemas.microsoft.com/office/drawing/2014/main" id="{1074C5DF-E941-4A98-0C33-864B32AD48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B6B0F1-FF21-9324-9608-0AF9691D08FB}"/>
              </a:ext>
            </a:extLst>
          </p:cNvPr>
          <p:cNvSpPr>
            <a:spLocks noGrp="1"/>
          </p:cNvSpPr>
          <p:nvPr>
            <p:ph type="sldNum" sz="quarter" idx="12"/>
          </p:nvPr>
        </p:nvSpPr>
        <p:spPr/>
        <p:txBody>
          <a:bodyPr/>
          <a:lstStyle/>
          <a:p>
            <a:fld id="{E51DCD62-72EA-45EA-B2C8-B7D960A39789}" type="slidenum">
              <a:rPr lang="en-IN" smtClean="0"/>
              <a:t>‹#›</a:t>
            </a:fld>
            <a:endParaRPr lang="en-IN"/>
          </a:p>
        </p:txBody>
      </p:sp>
    </p:spTree>
    <p:extLst>
      <p:ext uri="{BB962C8B-B14F-4D97-AF65-F5344CB8AC3E}">
        <p14:creationId xmlns:p14="http://schemas.microsoft.com/office/powerpoint/2010/main" val="2620903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E57BB7-11CA-501A-9947-1980DCBAC5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E5C660-08F6-BAFE-44E5-6E6E87C9D8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AF091E-D3AA-7B9D-0129-BFF1AF5CCD3D}"/>
              </a:ext>
            </a:extLst>
          </p:cNvPr>
          <p:cNvSpPr>
            <a:spLocks noGrp="1"/>
          </p:cNvSpPr>
          <p:nvPr>
            <p:ph type="dt" sz="half" idx="10"/>
          </p:nvPr>
        </p:nvSpPr>
        <p:spPr/>
        <p:txBody>
          <a:bodyPr/>
          <a:lstStyle/>
          <a:p>
            <a:fld id="{81E5AC41-199C-4F50-92C3-4D43B29EE17D}" type="datetimeFigureOut">
              <a:rPr lang="en-IN" smtClean="0"/>
              <a:t>09-10-2026</a:t>
            </a:fld>
            <a:endParaRPr lang="en-IN"/>
          </a:p>
        </p:txBody>
      </p:sp>
      <p:sp>
        <p:nvSpPr>
          <p:cNvPr id="5" name="Footer Placeholder 4">
            <a:extLst>
              <a:ext uri="{FF2B5EF4-FFF2-40B4-BE49-F238E27FC236}">
                <a16:creationId xmlns:a16="http://schemas.microsoft.com/office/drawing/2014/main" id="{2E144818-D036-B1FA-4D54-8DF3F7CA47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D6BFD2-2576-DCB2-BB79-10950D0A63FE}"/>
              </a:ext>
            </a:extLst>
          </p:cNvPr>
          <p:cNvSpPr>
            <a:spLocks noGrp="1"/>
          </p:cNvSpPr>
          <p:nvPr>
            <p:ph type="sldNum" sz="quarter" idx="12"/>
          </p:nvPr>
        </p:nvSpPr>
        <p:spPr/>
        <p:txBody>
          <a:bodyPr/>
          <a:lstStyle/>
          <a:p>
            <a:fld id="{E51DCD62-72EA-45EA-B2C8-B7D960A39789}" type="slidenum">
              <a:rPr lang="en-IN" smtClean="0"/>
              <a:t>‹#›</a:t>
            </a:fld>
            <a:endParaRPr lang="en-IN"/>
          </a:p>
        </p:txBody>
      </p:sp>
    </p:spTree>
    <p:extLst>
      <p:ext uri="{BB962C8B-B14F-4D97-AF65-F5344CB8AC3E}">
        <p14:creationId xmlns:p14="http://schemas.microsoft.com/office/powerpoint/2010/main" val="4068662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A911D7-90D2-4A7D-2D64-753E07CD8C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605D17-4BAB-411E-FC91-A6AA166498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4C4D71-FC34-C5CF-A93A-F7B93B54E4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E5AC41-199C-4F50-92C3-4D43B29EE17D}" type="datetimeFigureOut">
              <a:rPr lang="en-IN" smtClean="0"/>
              <a:t>09-10-2026</a:t>
            </a:fld>
            <a:endParaRPr lang="en-IN"/>
          </a:p>
        </p:txBody>
      </p:sp>
      <p:sp>
        <p:nvSpPr>
          <p:cNvPr id="5" name="Footer Placeholder 4">
            <a:extLst>
              <a:ext uri="{FF2B5EF4-FFF2-40B4-BE49-F238E27FC236}">
                <a16:creationId xmlns:a16="http://schemas.microsoft.com/office/drawing/2014/main" id="{D2B7282E-1BA2-1DE6-3ED9-389926B590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438BF39-8215-5D27-BDAD-60B0B7A930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1DCD62-72EA-45EA-B2C8-B7D960A39789}" type="slidenum">
              <a:rPr lang="en-IN" smtClean="0"/>
              <a:t>‹#›</a:t>
            </a:fld>
            <a:endParaRPr lang="en-IN"/>
          </a:p>
        </p:txBody>
      </p:sp>
    </p:spTree>
    <p:extLst>
      <p:ext uri="{BB962C8B-B14F-4D97-AF65-F5344CB8AC3E}">
        <p14:creationId xmlns:p14="http://schemas.microsoft.com/office/powerpoint/2010/main" val="3996243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EDAA2F-7435-27B2-B3E4-19DF972794B7}"/>
              </a:ext>
            </a:extLst>
          </p:cNvPr>
          <p:cNvSpPr/>
          <p:nvPr/>
        </p:nvSpPr>
        <p:spPr>
          <a:xfrm>
            <a:off x="0" y="0"/>
            <a:ext cx="12192000" cy="50800"/>
          </a:xfrm>
          <a:prstGeom prst="rect">
            <a:avLst/>
          </a:prstGeom>
          <a:solidFill>
            <a:srgbClr val="173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3719D627-0AD6-F359-B8E9-FA446350678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896600" y="304800"/>
            <a:ext cx="965200" cy="965200"/>
          </a:xfrm>
          <a:prstGeom prst="rect">
            <a:avLst/>
          </a:prstGeom>
        </p:spPr>
      </p:pic>
      <p:sp>
        <p:nvSpPr>
          <p:cNvPr id="5" name="TextBox 4">
            <a:extLst>
              <a:ext uri="{FF2B5EF4-FFF2-40B4-BE49-F238E27FC236}">
                <a16:creationId xmlns:a16="http://schemas.microsoft.com/office/drawing/2014/main" id="{E7EC16B3-6088-00F1-3285-132EDD8F5C23}"/>
              </a:ext>
            </a:extLst>
          </p:cNvPr>
          <p:cNvSpPr txBox="1"/>
          <p:nvPr/>
        </p:nvSpPr>
        <p:spPr>
          <a:xfrm>
            <a:off x="508000" y="1498600"/>
            <a:ext cx="11176000" cy="369332"/>
          </a:xfrm>
          <a:prstGeom prst="rect">
            <a:avLst/>
          </a:prstGeom>
          <a:noFill/>
        </p:spPr>
        <p:txBody>
          <a:bodyPr vert="horz" wrap="square" lIns="0" tIns="0" rIns="0" bIns="0" rtlCol="0">
            <a:noAutofit/>
          </a:bodyPr>
          <a:lstStyle/>
          <a:p>
            <a:pPr algn="ctr"/>
            <a:r>
              <a:rPr lang="en-IN" sz="5000" b="1">
                <a:solidFill>
                  <a:srgbClr val="17396B"/>
                </a:solidFill>
                <a:latin typeface="Calibri" panose="020F0502020204030204" pitchFamily="34" charset="0"/>
              </a:rPr>
              <a:t>PROJECT-BASED LEARNING</a:t>
            </a:r>
          </a:p>
        </p:txBody>
      </p:sp>
      <p:sp>
        <p:nvSpPr>
          <p:cNvPr id="6" name="TextBox 5">
            <a:extLst>
              <a:ext uri="{FF2B5EF4-FFF2-40B4-BE49-F238E27FC236}">
                <a16:creationId xmlns:a16="http://schemas.microsoft.com/office/drawing/2014/main" id="{6798DBD1-06BB-6D69-771F-C8D2C97DDA62}"/>
              </a:ext>
            </a:extLst>
          </p:cNvPr>
          <p:cNvSpPr txBox="1"/>
          <p:nvPr/>
        </p:nvSpPr>
        <p:spPr>
          <a:xfrm>
            <a:off x="508000" y="2286000"/>
            <a:ext cx="11176000" cy="369332"/>
          </a:xfrm>
          <a:prstGeom prst="rect">
            <a:avLst/>
          </a:prstGeom>
          <a:noFill/>
        </p:spPr>
        <p:txBody>
          <a:bodyPr vert="horz" wrap="square" lIns="0" tIns="0" rIns="0" bIns="0" rtlCol="0">
            <a:noAutofit/>
          </a:bodyPr>
          <a:lstStyle/>
          <a:p>
            <a:pPr algn="ctr"/>
            <a:r>
              <a:rPr lang="en-IN" sz="3000">
                <a:solidFill>
                  <a:srgbClr val="1B1B1B"/>
                </a:solidFill>
                <a:latin typeface="Calibri" panose="020F0502020204030204" pitchFamily="34" charset="0"/>
              </a:rPr>
              <a:t>PHASE-II EVALUATION</a:t>
            </a:r>
          </a:p>
        </p:txBody>
      </p:sp>
      <p:sp>
        <p:nvSpPr>
          <p:cNvPr id="7" name="TextBox 6">
            <a:extLst>
              <a:ext uri="{FF2B5EF4-FFF2-40B4-BE49-F238E27FC236}">
                <a16:creationId xmlns:a16="http://schemas.microsoft.com/office/drawing/2014/main" id="{C4218D9E-DE00-1874-8497-6C1580ED0F3B}"/>
              </a:ext>
            </a:extLst>
          </p:cNvPr>
          <p:cNvSpPr txBox="1"/>
          <p:nvPr/>
        </p:nvSpPr>
        <p:spPr>
          <a:xfrm>
            <a:off x="508000" y="3124200"/>
            <a:ext cx="11176000" cy="369332"/>
          </a:xfrm>
          <a:prstGeom prst="rect">
            <a:avLst/>
          </a:prstGeom>
          <a:noFill/>
        </p:spPr>
        <p:txBody>
          <a:bodyPr vert="horz" wrap="square" lIns="0" tIns="0" rIns="0" bIns="0" rtlCol="0">
            <a:noAutofit/>
          </a:bodyPr>
          <a:lstStyle/>
          <a:p>
            <a:pPr algn="ctr"/>
            <a:r>
              <a:rPr lang="en-US" sz="2500" b="1">
                <a:solidFill>
                  <a:srgbClr val="595959"/>
                </a:solidFill>
                <a:latin typeface="Calibri" panose="020F0502020204030204" pitchFamily="34" charset="0"/>
              </a:rPr>
              <a:t>ReClaim: Campus Lost &amp; Found Web Application</a:t>
            </a:r>
            <a:endParaRPr lang="en-IN" sz="2500" b="1">
              <a:solidFill>
                <a:srgbClr val="595959"/>
              </a:solidFill>
              <a:latin typeface="Calibri" panose="020F0502020204030204" pitchFamily="34" charset="0"/>
            </a:endParaRPr>
          </a:p>
        </p:txBody>
      </p:sp>
      <p:sp>
        <p:nvSpPr>
          <p:cNvPr id="8" name="TextBox 7">
            <a:extLst>
              <a:ext uri="{FF2B5EF4-FFF2-40B4-BE49-F238E27FC236}">
                <a16:creationId xmlns:a16="http://schemas.microsoft.com/office/drawing/2014/main" id="{EBCE5D22-BC58-C7BC-0C4D-E6AB9FF1A43B}"/>
              </a:ext>
            </a:extLst>
          </p:cNvPr>
          <p:cNvSpPr txBox="1"/>
          <p:nvPr/>
        </p:nvSpPr>
        <p:spPr>
          <a:xfrm>
            <a:off x="508000" y="3683000"/>
            <a:ext cx="11176000" cy="369332"/>
          </a:xfrm>
          <a:prstGeom prst="rect">
            <a:avLst/>
          </a:prstGeom>
          <a:noFill/>
        </p:spPr>
        <p:txBody>
          <a:bodyPr vert="horz" wrap="square" lIns="0" tIns="0" rIns="0" bIns="0" rtlCol="0">
            <a:noAutofit/>
          </a:bodyPr>
          <a:lstStyle/>
          <a:p>
            <a:pPr algn="ctr"/>
            <a:r>
              <a:rPr lang="en-IN">
                <a:solidFill>
                  <a:srgbClr val="17396B"/>
                </a:solidFill>
                <a:latin typeface="Calibri" panose="020F0502020204030204" pitchFamily="34" charset="0"/>
              </a:rPr>
              <a:t>Team Vision  ·  MCA AJP-III-2026-T049</a:t>
            </a:r>
          </a:p>
        </p:txBody>
      </p:sp>
      <p:sp>
        <p:nvSpPr>
          <p:cNvPr id="9" name="TextBox 8">
            <a:extLst>
              <a:ext uri="{FF2B5EF4-FFF2-40B4-BE49-F238E27FC236}">
                <a16:creationId xmlns:a16="http://schemas.microsoft.com/office/drawing/2014/main" id="{7B6B09EA-151B-9BE1-A714-E07AD06044BE}"/>
              </a:ext>
            </a:extLst>
          </p:cNvPr>
          <p:cNvSpPr txBox="1"/>
          <p:nvPr/>
        </p:nvSpPr>
        <p:spPr>
          <a:xfrm>
            <a:off x="508000" y="5130800"/>
            <a:ext cx="11176000" cy="369332"/>
          </a:xfrm>
          <a:prstGeom prst="rect">
            <a:avLst/>
          </a:prstGeom>
          <a:noFill/>
        </p:spPr>
        <p:txBody>
          <a:bodyPr vert="horz" wrap="square" lIns="0" tIns="0" rIns="0" bIns="0" rtlCol="0">
            <a:noAutofit/>
          </a:bodyPr>
          <a:lstStyle/>
          <a:p>
            <a:pPr algn="ctr"/>
            <a:r>
              <a:rPr lang="en-US" b="1">
                <a:solidFill>
                  <a:srgbClr val="1B1B1B"/>
                </a:solidFill>
                <a:latin typeface="Calibri" panose="020F0502020204030204" pitchFamily="34" charset="0"/>
              </a:rPr>
              <a:t>Department of Computer Science &amp; Engineering</a:t>
            </a:r>
            <a:endParaRPr lang="en-IN" b="1">
              <a:solidFill>
                <a:srgbClr val="1B1B1B"/>
              </a:solidFill>
              <a:latin typeface="Calibri" panose="020F0502020204030204" pitchFamily="34" charset="0"/>
            </a:endParaRPr>
          </a:p>
        </p:txBody>
      </p:sp>
      <p:sp>
        <p:nvSpPr>
          <p:cNvPr id="10" name="TextBox 9">
            <a:extLst>
              <a:ext uri="{FF2B5EF4-FFF2-40B4-BE49-F238E27FC236}">
                <a16:creationId xmlns:a16="http://schemas.microsoft.com/office/drawing/2014/main" id="{31FEAC5E-5FEB-51DD-6889-EDD31477E311}"/>
              </a:ext>
            </a:extLst>
          </p:cNvPr>
          <p:cNvSpPr txBox="1"/>
          <p:nvPr/>
        </p:nvSpPr>
        <p:spPr>
          <a:xfrm>
            <a:off x="508000" y="5461000"/>
            <a:ext cx="11176000" cy="369332"/>
          </a:xfrm>
          <a:prstGeom prst="rect">
            <a:avLst/>
          </a:prstGeom>
          <a:noFill/>
        </p:spPr>
        <p:txBody>
          <a:bodyPr vert="horz" wrap="square" lIns="0" tIns="0" rIns="0" bIns="0" rtlCol="0">
            <a:noAutofit/>
          </a:bodyPr>
          <a:lstStyle/>
          <a:p>
            <a:pPr algn="ctr"/>
            <a:r>
              <a:rPr lang="en-US" sz="1600">
                <a:solidFill>
                  <a:srgbClr val="1B1B1B"/>
                </a:solidFill>
                <a:latin typeface="Calibri" panose="020F0502020204030204" pitchFamily="34" charset="0"/>
              </a:rPr>
              <a:t>Graphic Era (Deemed to be University), Dehradun</a:t>
            </a:r>
            <a:endParaRPr lang="en-IN" sz="1600">
              <a:solidFill>
                <a:srgbClr val="1B1B1B"/>
              </a:solidFill>
              <a:latin typeface="Calibri" panose="020F0502020204030204" pitchFamily="34" charset="0"/>
            </a:endParaRPr>
          </a:p>
        </p:txBody>
      </p:sp>
      <p:sp>
        <p:nvSpPr>
          <p:cNvPr id="11" name="TextBox 10">
            <a:extLst>
              <a:ext uri="{FF2B5EF4-FFF2-40B4-BE49-F238E27FC236}">
                <a16:creationId xmlns:a16="http://schemas.microsoft.com/office/drawing/2014/main" id="{54FAD551-A713-4427-936A-789E160EF51A}"/>
              </a:ext>
            </a:extLst>
          </p:cNvPr>
          <p:cNvSpPr txBox="1"/>
          <p:nvPr/>
        </p:nvSpPr>
        <p:spPr>
          <a:xfrm>
            <a:off x="508000" y="5791200"/>
            <a:ext cx="11176000" cy="369332"/>
          </a:xfrm>
          <a:prstGeom prst="rect">
            <a:avLst/>
          </a:prstGeom>
          <a:noFill/>
        </p:spPr>
        <p:txBody>
          <a:bodyPr vert="horz" wrap="square" lIns="0" tIns="0" rIns="0" bIns="0" rtlCol="0">
            <a:noAutofit/>
          </a:bodyPr>
          <a:lstStyle/>
          <a:p>
            <a:pPr algn="ctr"/>
            <a:r>
              <a:rPr lang="en-IN" sz="1200">
                <a:solidFill>
                  <a:srgbClr val="1B1B1B"/>
                </a:solidFill>
                <a:latin typeface="Calibri" panose="020F0502020204030204" pitchFamily="34" charset="0"/>
              </a:rPr>
              <a:t>Academic Session 2026–27</a:t>
            </a:r>
          </a:p>
        </p:txBody>
      </p:sp>
    </p:spTree>
    <p:extLst>
      <p:ext uri="{BB962C8B-B14F-4D97-AF65-F5344CB8AC3E}">
        <p14:creationId xmlns:p14="http://schemas.microsoft.com/office/powerpoint/2010/main" val="1155623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3903B9-9F09-EBFF-976D-550E27B4F96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41100" y="177800"/>
            <a:ext cx="584200" cy="584200"/>
          </a:xfrm>
          <a:prstGeom prst="rect">
            <a:avLst/>
          </a:prstGeom>
        </p:spPr>
      </p:pic>
      <p:sp>
        <p:nvSpPr>
          <p:cNvPr id="4" name="Title">
            <a:extLst>
              <a:ext uri="{FF2B5EF4-FFF2-40B4-BE49-F238E27FC236}">
                <a16:creationId xmlns:a16="http://schemas.microsoft.com/office/drawing/2014/main" id="{D42E2724-748B-3E90-9EF4-46A0BF84F532}"/>
              </a:ext>
            </a:extLst>
          </p:cNvPr>
          <p:cNvSpPr txBox="1"/>
          <p:nvPr/>
        </p:nvSpPr>
        <p:spPr>
          <a:xfrm>
            <a:off x="698500" y="482600"/>
            <a:ext cx="10414000" cy="369332"/>
          </a:xfrm>
          <a:prstGeom prst="rect">
            <a:avLst/>
          </a:prstGeom>
          <a:noFill/>
        </p:spPr>
        <p:txBody>
          <a:bodyPr vert="horz" wrap="square" lIns="0" tIns="0" rIns="0" bIns="0" rtlCol="0">
            <a:noAutofit/>
          </a:bodyPr>
          <a:lstStyle/>
          <a:p>
            <a:r>
              <a:rPr lang="en-IN" sz="3000" b="1">
                <a:solidFill>
                  <a:srgbClr val="17396B"/>
                </a:solidFill>
                <a:latin typeface="Calibri" panose="020F0502020204030204" pitchFamily="34" charset="0"/>
              </a:rPr>
              <a:t>Team &amp; Mentor Details</a:t>
            </a:r>
          </a:p>
        </p:txBody>
      </p:sp>
      <p:cxnSp>
        <p:nvCxnSpPr>
          <p:cNvPr id="5" name="Straight Connector 4">
            <a:extLst>
              <a:ext uri="{FF2B5EF4-FFF2-40B4-BE49-F238E27FC236}">
                <a16:creationId xmlns:a16="http://schemas.microsoft.com/office/drawing/2014/main" id="{A2F79229-7522-B68C-CE1A-55B9C55A7EDB}"/>
              </a:ext>
            </a:extLst>
          </p:cNvPr>
          <p:cNvCxnSpPr/>
          <p:nvPr/>
        </p:nvCxnSpPr>
        <p:spPr>
          <a:xfrm>
            <a:off x="698500" y="1320800"/>
            <a:ext cx="10795000" cy="0"/>
          </a:xfrm>
          <a:prstGeom prst="line">
            <a:avLst/>
          </a:prstGeom>
          <a:ln w="22225">
            <a:solidFill>
              <a:srgbClr val="17396B"/>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A52ECCF-CA9F-23E9-3E80-6B4F996567B6}"/>
              </a:ext>
            </a:extLst>
          </p:cNvPr>
          <p:cNvSpPr txBox="1"/>
          <p:nvPr/>
        </p:nvSpPr>
        <p:spPr>
          <a:xfrm>
            <a:off x="228600" y="6502400"/>
            <a:ext cx="8890000" cy="369332"/>
          </a:xfrm>
          <a:prstGeom prst="rect">
            <a:avLst/>
          </a:prstGeom>
          <a:noFill/>
        </p:spPr>
        <p:txBody>
          <a:bodyPr vert="horz" wrap="square" lIns="0" tIns="0" rIns="0" bIns="0" rtlCol="0">
            <a:noAutofit/>
          </a:bodyPr>
          <a:lstStyle/>
          <a:p>
            <a:r>
              <a:rPr lang="en-US" sz="1050">
                <a:solidFill>
                  <a:srgbClr val="17396B"/>
                </a:solidFill>
                <a:latin typeface="Calibri" panose="020F0502020204030204" pitchFamily="34" charset="0"/>
              </a:rPr>
              <a:t>Department of Computer Science &amp; Engineering — Graphic Era (Deemed to be University)</a:t>
            </a:r>
            <a:endParaRPr lang="en-IN" sz="1050">
              <a:solidFill>
                <a:srgbClr val="17396B"/>
              </a:solidFill>
              <a:latin typeface="Calibri" panose="020F0502020204030204" pitchFamily="34" charset="0"/>
            </a:endParaRPr>
          </a:p>
        </p:txBody>
      </p:sp>
      <p:sp>
        <p:nvSpPr>
          <p:cNvPr id="7" name="TextBox 6">
            <a:extLst>
              <a:ext uri="{FF2B5EF4-FFF2-40B4-BE49-F238E27FC236}">
                <a16:creationId xmlns:a16="http://schemas.microsoft.com/office/drawing/2014/main" id="{E66D12A4-B104-DCC7-E110-0AA497077F52}"/>
              </a:ext>
            </a:extLst>
          </p:cNvPr>
          <p:cNvSpPr txBox="1"/>
          <p:nvPr/>
        </p:nvSpPr>
        <p:spPr>
          <a:xfrm>
            <a:off x="11049000" y="6502400"/>
            <a:ext cx="914400" cy="369332"/>
          </a:xfrm>
          <a:prstGeom prst="rect">
            <a:avLst/>
          </a:prstGeom>
          <a:noFill/>
        </p:spPr>
        <p:txBody>
          <a:bodyPr vert="horz" wrap="square" lIns="0" tIns="0" rIns="0" bIns="0" rtlCol="0">
            <a:noAutofit/>
          </a:bodyPr>
          <a:lstStyle/>
          <a:p>
            <a:pPr algn="r"/>
            <a:r>
              <a:rPr lang="en-IN" sz="1050">
                <a:solidFill>
                  <a:srgbClr val="1B1B1B"/>
                </a:solidFill>
                <a:latin typeface="Calibri" panose="020F0502020204030204" pitchFamily="34" charset="0"/>
              </a:rPr>
              <a:t>2/10</a:t>
            </a:r>
          </a:p>
        </p:txBody>
      </p:sp>
      <p:sp>
        <p:nvSpPr>
          <p:cNvPr id="8" name="Rectangle: Rounded Corners 7">
            <a:extLst>
              <a:ext uri="{FF2B5EF4-FFF2-40B4-BE49-F238E27FC236}">
                <a16:creationId xmlns:a16="http://schemas.microsoft.com/office/drawing/2014/main" id="{2F341BDD-5210-A2BA-979F-D3462A251579}"/>
              </a:ext>
            </a:extLst>
          </p:cNvPr>
          <p:cNvSpPr/>
          <p:nvPr/>
        </p:nvSpPr>
        <p:spPr>
          <a:xfrm>
            <a:off x="635000" y="1778000"/>
            <a:ext cx="5308600" cy="2667000"/>
          </a:xfrm>
          <a:prstGeom prst="roundRect">
            <a:avLst>
              <a:gd name="adj" fmla="val 4762"/>
            </a:avLst>
          </a:prstGeom>
          <a:solidFill>
            <a:srgbClr val="EAF1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A3E54A04-ADC2-9869-EDB0-B6E5641AC15A}"/>
              </a:ext>
            </a:extLst>
          </p:cNvPr>
          <p:cNvSpPr txBox="1"/>
          <p:nvPr/>
        </p:nvSpPr>
        <p:spPr>
          <a:xfrm>
            <a:off x="838200" y="1905000"/>
            <a:ext cx="4953000" cy="369332"/>
          </a:xfrm>
          <a:prstGeom prst="rect">
            <a:avLst/>
          </a:prstGeom>
          <a:noFill/>
        </p:spPr>
        <p:txBody>
          <a:bodyPr vert="horz" wrap="square" lIns="0" tIns="0" rIns="0" bIns="0" rtlCol="0">
            <a:noAutofit/>
          </a:bodyPr>
          <a:lstStyle/>
          <a:p>
            <a:r>
              <a:rPr lang="en-IN" sz="2000">
                <a:solidFill>
                  <a:srgbClr val="17396B"/>
                </a:solidFill>
                <a:latin typeface="Calibri" panose="020F0502020204030204" pitchFamily="34" charset="0"/>
              </a:rPr>
              <a:t>Team Information</a:t>
            </a:r>
          </a:p>
        </p:txBody>
      </p:sp>
      <p:sp>
        <p:nvSpPr>
          <p:cNvPr id="10" name="TextBox 9">
            <a:extLst>
              <a:ext uri="{FF2B5EF4-FFF2-40B4-BE49-F238E27FC236}">
                <a16:creationId xmlns:a16="http://schemas.microsoft.com/office/drawing/2014/main" id="{07B6168C-5F4B-54AC-843F-71385227A11D}"/>
              </a:ext>
            </a:extLst>
          </p:cNvPr>
          <p:cNvSpPr txBox="1"/>
          <p:nvPr/>
        </p:nvSpPr>
        <p:spPr>
          <a:xfrm>
            <a:off x="838200" y="2362200"/>
            <a:ext cx="4953000" cy="369332"/>
          </a:xfrm>
          <a:prstGeom prst="rect">
            <a:avLst/>
          </a:prstGeom>
          <a:noFill/>
        </p:spPr>
        <p:txBody>
          <a:bodyPr vert="horz" wrap="square" lIns="0" tIns="0" rIns="0" bIns="0" rtlCol="0">
            <a:noAutofit/>
          </a:bodyPr>
          <a:lstStyle/>
          <a:p>
            <a:pPr>
              <a:spcAft>
                <a:spcPts val="300"/>
              </a:spcAft>
              <a:tabLst>
                <a:tab pos="1270000" algn="l"/>
              </a:tabLst>
            </a:pPr>
            <a:r>
              <a:rPr lang="en-US" sz="1600" b="1">
                <a:solidFill>
                  <a:srgbClr val="1B1B1B"/>
                </a:solidFill>
                <a:latin typeface="Calibri" panose="020F0502020204030204" pitchFamily="34" charset="0"/>
              </a:rPr>
              <a:t>Team:</a:t>
            </a:r>
            <a:r>
              <a:rPr lang="en-US" sz="1600">
                <a:solidFill>
                  <a:srgbClr val="1B1B1B"/>
                </a:solidFill>
                <a:latin typeface="Calibri" panose="020F0502020204030204" pitchFamily="34" charset="0"/>
              </a:rPr>
              <a:t>	Vision</a:t>
            </a:r>
          </a:p>
          <a:p>
            <a:pPr>
              <a:spcAft>
                <a:spcPts val="300"/>
              </a:spcAft>
              <a:tabLst>
                <a:tab pos="1270000" algn="l"/>
              </a:tabLst>
            </a:pPr>
            <a:r>
              <a:rPr lang="en-US" sz="1600" b="1">
                <a:solidFill>
                  <a:srgbClr val="1B1B1B"/>
                </a:solidFill>
                <a:latin typeface="Calibri" panose="020F0502020204030204" pitchFamily="34" charset="0"/>
              </a:rPr>
              <a:t>Team ID:</a:t>
            </a:r>
            <a:r>
              <a:rPr lang="en-US" sz="1600">
                <a:solidFill>
                  <a:srgbClr val="1B1B1B"/>
                </a:solidFill>
                <a:latin typeface="Calibri" panose="020F0502020204030204" pitchFamily="34" charset="0"/>
              </a:rPr>
              <a:t>	MCA AJP-III-2026-T049</a:t>
            </a:r>
          </a:p>
          <a:p>
            <a:pPr>
              <a:spcAft>
                <a:spcPts val="300"/>
              </a:spcAft>
              <a:tabLst>
                <a:tab pos="1270000" algn="l"/>
              </a:tabLst>
            </a:pPr>
            <a:r>
              <a:rPr lang="en-US" sz="1600" b="1">
                <a:solidFill>
                  <a:srgbClr val="1B1B1B"/>
                </a:solidFill>
                <a:latin typeface="Calibri" panose="020F0502020204030204" pitchFamily="34" charset="0"/>
              </a:rPr>
              <a:t>Programme:</a:t>
            </a:r>
            <a:r>
              <a:rPr lang="en-US" sz="1600">
                <a:solidFill>
                  <a:srgbClr val="1B1B1B"/>
                </a:solidFill>
                <a:latin typeface="Calibri" panose="020F0502020204030204" pitchFamily="34" charset="0"/>
              </a:rPr>
              <a:t>	MCA</a:t>
            </a:r>
          </a:p>
          <a:p>
            <a:pPr>
              <a:spcAft>
                <a:spcPts val="300"/>
              </a:spcAft>
              <a:tabLst>
                <a:tab pos="1270000" algn="l"/>
              </a:tabLst>
            </a:pPr>
            <a:r>
              <a:rPr lang="en-US" sz="1600" b="1">
                <a:solidFill>
                  <a:srgbClr val="1B1B1B"/>
                </a:solidFill>
                <a:latin typeface="Calibri" panose="020F0502020204030204" pitchFamily="34" charset="0"/>
              </a:rPr>
              <a:t>Semester:</a:t>
            </a:r>
            <a:r>
              <a:rPr lang="en-US" sz="1600">
                <a:solidFill>
                  <a:srgbClr val="1B1B1B"/>
                </a:solidFill>
                <a:latin typeface="Calibri" panose="020F0502020204030204" pitchFamily="34" charset="0"/>
              </a:rPr>
              <a:t>	</a:t>
            </a:r>
            <a:r>
              <a:rPr lang="en-US" sz="1600" b="1">
                <a:solidFill>
                  <a:srgbClr val="B42318"/>
                </a:solidFill>
                <a:latin typeface="Calibri" panose="020F0502020204030204" pitchFamily="34" charset="0"/>
              </a:rPr>
              <a:t>[TO BE FILLED]</a:t>
            </a:r>
          </a:p>
          <a:p>
            <a:pPr>
              <a:spcAft>
                <a:spcPts val="300"/>
              </a:spcAft>
              <a:tabLst>
                <a:tab pos="1270000" algn="l"/>
              </a:tabLst>
            </a:pPr>
            <a:r>
              <a:rPr lang="en-US" sz="1600" b="1">
                <a:solidFill>
                  <a:srgbClr val="1B1B1B"/>
                </a:solidFill>
                <a:latin typeface="Calibri" panose="020F0502020204030204" pitchFamily="34" charset="0"/>
              </a:rPr>
              <a:t>Section:</a:t>
            </a:r>
            <a:r>
              <a:rPr lang="en-US" sz="1600">
                <a:solidFill>
                  <a:srgbClr val="1B1B1B"/>
                </a:solidFill>
                <a:latin typeface="Calibri" panose="020F0502020204030204" pitchFamily="34" charset="0"/>
              </a:rPr>
              <a:t>	</a:t>
            </a:r>
            <a:r>
              <a:rPr lang="en-US" sz="1600" b="1">
                <a:solidFill>
                  <a:srgbClr val="B42318"/>
                </a:solidFill>
                <a:latin typeface="Calibri" panose="020F0502020204030204" pitchFamily="34" charset="0"/>
              </a:rPr>
              <a:t>[TO BE FILLED]</a:t>
            </a:r>
          </a:p>
          <a:p>
            <a:pPr>
              <a:spcAft>
                <a:spcPts val="300"/>
              </a:spcAft>
              <a:tabLst>
                <a:tab pos="1270000" algn="l"/>
              </a:tabLst>
            </a:pPr>
            <a:r>
              <a:rPr lang="en-US" sz="1600" b="1">
                <a:solidFill>
                  <a:srgbClr val="1B1B1B"/>
                </a:solidFill>
                <a:latin typeface="Calibri" panose="020F0502020204030204" pitchFamily="34" charset="0"/>
              </a:rPr>
              <a:t>Domain:</a:t>
            </a:r>
            <a:r>
              <a:rPr lang="en-US" sz="1600">
                <a:solidFill>
                  <a:srgbClr val="1B1B1B"/>
                </a:solidFill>
                <a:latin typeface="Calibri" panose="020F0502020204030204" pitchFamily="34" charset="0"/>
              </a:rPr>
              <a:t>	</a:t>
            </a:r>
            <a:r>
              <a:rPr lang="en-US" sz="1600" b="1">
                <a:solidFill>
                  <a:srgbClr val="B42318"/>
                </a:solidFill>
                <a:latin typeface="Calibri" panose="020F0502020204030204" pitchFamily="34" charset="0"/>
              </a:rPr>
              <a:t>[TO BE FILLED]</a:t>
            </a:r>
            <a:endParaRPr lang="en-IN" sz="1600" b="1">
              <a:solidFill>
                <a:srgbClr val="B42318"/>
              </a:solidFill>
              <a:latin typeface="Calibri" panose="020F0502020204030204" pitchFamily="34" charset="0"/>
            </a:endParaRPr>
          </a:p>
        </p:txBody>
      </p:sp>
      <p:sp>
        <p:nvSpPr>
          <p:cNvPr id="11" name="Rectangle: Rounded Corners 10">
            <a:extLst>
              <a:ext uri="{FF2B5EF4-FFF2-40B4-BE49-F238E27FC236}">
                <a16:creationId xmlns:a16="http://schemas.microsoft.com/office/drawing/2014/main" id="{D29468B7-981F-8512-5F2F-D87E921FF1BE}"/>
              </a:ext>
            </a:extLst>
          </p:cNvPr>
          <p:cNvSpPr/>
          <p:nvPr/>
        </p:nvSpPr>
        <p:spPr>
          <a:xfrm>
            <a:off x="6248400" y="1778000"/>
            <a:ext cx="5308600" cy="2667000"/>
          </a:xfrm>
          <a:prstGeom prst="roundRect">
            <a:avLst>
              <a:gd name="adj" fmla="val 4762"/>
            </a:avLst>
          </a:prstGeom>
          <a:solidFill>
            <a:srgbClr val="EAF1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D24DE67C-5886-6172-DD19-8142FF668503}"/>
              </a:ext>
            </a:extLst>
          </p:cNvPr>
          <p:cNvSpPr txBox="1"/>
          <p:nvPr/>
        </p:nvSpPr>
        <p:spPr>
          <a:xfrm>
            <a:off x="6451600" y="1905000"/>
            <a:ext cx="4953000" cy="369332"/>
          </a:xfrm>
          <a:prstGeom prst="rect">
            <a:avLst/>
          </a:prstGeom>
          <a:noFill/>
        </p:spPr>
        <p:txBody>
          <a:bodyPr vert="horz" wrap="square" lIns="0" tIns="0" rIns="0" bIns="0" rtlCol="0">
            <a:noAutofit/>
          </a:bodyPr>
          <a:lstStyle/>
          <a:p>
            <a:r>
              <a:rPr lang="en-IN" sz="2000">
                <a:solidFill>
                  <a:srgbClr val="17396B"/>
                </a:solidFill>
                <a:latin typeface="Calibri" panose="020F0502020204030204" pitchFamily="34" charset="0"/>
              </a:rPr>
              <a:t>Team Members</a:t>
            </a:r>
          </a:p>
        </p:txBody>
      </p:sp>
      <p:sp>
        <p:nvSpPr>
          <p:cNvPr id="13" name="TextBox 12">
            <a:extLst>
              <a:ext uri="{FF2B5EF4-FFF2-40B4-BE49-F238E27FC236}">
                <a16:creationId xmlns:a16="http://schemas.microsoft.com/office/drawing/2014/main" id="{65DCDDED-F712-2AFF-487B-D206E2AC26D0}"/>
              </a:ext>
            </a:extLst>
          </p:cNvPr>
          <p:cNvSpPr txBox="1"/>
          <p:nvPr/>
        </p:nvSpPr>
        <p:spPr>
          <a:xfrm>
            <a:off x="6451600" y="2387600"/>
            <a:ext cx="4953000" cy="369332"/>
          </a:xfrm>
          <a:prstGeom prst="rect">
            <a:avLst/>
          </a:prstGeom>
          <a:noFill/>
        </p:spPr>
        <p:txBody>
          <a:bodyPr vert="horz" wrap="square" lIns="0" tIns="0" rIns="0" bIns="0" rtlCol="0">
            <a:noAutofit/>
          </a:bodyPr>
          <a:lstStyle/>
          <a:p>
            <a:pPr marL="279400" indent="-279400">
              <a:spcAft>
                <a:spcPts val="1000"/>
              </a:spcAft>
              <a:buClr>
                <a:srgbClr val="17396B"/>
              </a:buClr>
              <a:buFont typeface="+mj-lt"/>
              <a:buAutoNum type="arabicPeriod"/>
            </a:pPr>
            <a:r>
              <a:rPr lang="en-IN" sz="1600">
                <a:solidFill>
                  <a:srgbClr val="1B1B1B"/>
                </a:solidFill>
                <a:latin typeface="Calibri" panose="020F0502020204030204" pitchFamily="34" charset="0"/>
              </a:rPr>
              <a:t>Kartik Maithani – 2520230302 (Team Lead)</a:t>
            </a:r>
          </a:p>
          <a:p>
            <a:pPr marL="279400" indent="-279400">
              <a:spcAft>
                <a:spcPts val="1000"/>
              </a:spcAft>
              <a:buClr>
                <a:srgbClr val="17396B"/>
              </a:buClr>
              <a:buFont typeface="+mj-lt"/>
              <a:buAutoNum type="arabicPeriod"/>
            </a:pPr>
            <a:r>
              <a:rPr lang="en-IN" sz="1600">
                <a:solidFill>
                  <a:srgbClr val="1B1B1B"/>
                </a:solidFill>
                <a:latin typeface="Calibri" panose="020F0502020204030204" pitchFamily="34" charset="0"/>
              </a:rPr>
              <a:t>Mallika Rana – 2520230468</a:t>
            </a:r>
          </a:p>
          <a:p>
            <a:pPr marL="279400" indent="-279400">
              <a:spcAft>
                <a:spcPts val="1000"/>
              </a:spcAft>
              <a:buClr>
                <a:srgbClr val="17396B"/>
              </a:buClr>
              <a:buFont typeface="+mj-lt"/>
              <a:buAutoNum type="arabicPeriod"/>
            </a:pPr>
            <a:r>
              <a:rPr lang="en-IN" sz="1600">
                <a:solidFill>
                  <a:srgbClr val="1B1B1B"/>
                </a:solidFill>
                <a:latin typeface="Calibri" panose="020F0502020204030204" pitchFamily="34" charset="0"/>
              </a:rPr>
              <a:t>Dev Parashar – 2520230059</a:t>
            </a:r>
          </a:p>
        </p:txBody>
      </p:sp>
      <p:sp>
        <p:nvSpPr>
          <p:cNvPr id="14" name="TextBox 13">
            <a:extLst>
              <a:ext uri="{FF2B5EF4-FFF2-40B4-BE49-F238E27FC236}">
                <a16:creationId xmlns:a16="http://schemas.microsoft.com/office/drawing/2014/main" id="{A3D87C35-58B7-EE53-C8AC-E0EBF292D346}"/>
              </a:ext>
            </a:extLst>
          </p:cNvPr>
          <p:cNvSpPr txBox="1"/>
          <p:nvPr/>
        </p:nvSpPr>
        <p:spPr>
          <a:xfrm>
            <a:off x="6451600" y="4013200"/>
            <a:ext cx="4953000" cy="369332"/>
          </a:xfrm>
          <a:prstGeom prst="rect">
            <a:avLst/>
          </a:prstGeom>
          <a:noFill/>
        </p:spPr>
        <p:txBody>
          <a:bodyPr vert="horz" wrap="square" lIns="0" tIns="0" rIns="0" bIns="0" rtlCol="0">
            <a:noAutofit/>
          </a:bodyPr>
          <a:lstStyle/>
          <a:p>
            <a:r>
              <a:rPr lang="en-US" sz="1100" i="1">
                <a:solidFill>
                  <a:srgbClr val="6B7280"/>
                </a:solidFill>
                <a:latin typeface="Calibri" panose="020F0502020204030204" pitchFamily="34" charset="0"/>
              </a:rPr>
              <a:t>Names and IDs as on the submitted Phase-I proposal.</a:t>
            </a:r>
            <a:endParaRPr lang="en-IN" sz="1100" i="1">
              <a:solidFill>
                <a:srgbClr val="6B7280"/>
              </a:solidFill>
              <a:latin typeface="Calibri" panose="020F0502020204030204" pitchFamily="34" charset="0"/>
            </a:endParaRPr>
          </a:p>
        </p:txBody>
      </p:sp>
      <p:sp>
        <p:nvSpPr>
          <p:cNvPr id="15" name="Rectangle: Rounded Corners 14">
            <a:extLst>
              <a:ext uri="{FF2B5EF4-FFF2-40B4-BE49-F238E27FC236}">
                <a16:creationId xmlns:a16="http://schemas.microsoft.com/office/drawing/2014/main" id="{82296BFD-F037-9A0B-AD19-3EAEDD94FA2F}"/>
              </a:ext>
            </a:extLst>
          </p:cNvPr>
          <p:cNvSpPr/>
          <p:nvPr/>
        </p:nvSpPr>
        <p:spPr>
          <a:xfrm>
            <a:off x="635000" y="4724400"/>
            <a:ext cx="10922000" cy="1320800"/>
          </a:xfrm>
          <a:prstGeom prst="roundRect">
            <a:avLst>
              <a:gd name="adj" fmla="val 8000"/>
            </a:avLst>
          </a:prstGeom>
          <a:solidFill>
            <a:srgbClr val="EAF1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98006962-ADB8-9895-5DB3-B8366BC70980}"/>
              </a:ext>
            </a:extLst>
          </p:cNvPr>
          <p:cNvSpPr txBox="1"/>
          <p:nvPr/>
        </p:nvSpPr>
        <p:spPr>
          <a:xfrm>
            <a:off x="838200" y="4851400"/>
            <a:ext cx="5080000" cy="369332"/>
          </a:xfrm>
          <a:prstGeom prst="rect">
            <a:avLst/>
          </a:prstGeom>
          <a:noFill/>
        </p:spPr>
        <p:txBody>
          <a:bodyPr vert="horz" wrap="square" lIns="0" tIns="0" rIns="0" bIns="0" rtlCol="0">
            <a:noAutofit/>
          </a:bodyPr>
          <a:lstStyle/>
          <a:p>
            <a:r>
              <a:rPr lang="en-IN" sz="2000">
                <a:solidFill>
                  <a:srgbClr val="17396B"/>
                </a:solidFill>
                <a:latin typeface="Calibri" panose="020F0502020204030204" pitchFamily="34" charset="0"/>
              </a:rPr>
              <a:t>Mentor</a:t>
            </a:r>
          </a:p>
        </p:txBody>
      </p:sp>
      <p:sp>
        <p:nvSpPr>
          <p:cNvPr id="17" name="TextBox 16">
            <a:extLst>
              <a:ext uri="{FF2B5EF4-FFF2-40B4-BE49-F238E27FC236}">
                <a16:creationId xmlns:a16="http://schemas.microsoft.com/office/drawing/2014/main" id="{0BB86ECD-12D9-D16F-9CE9-1C426D99BBAF}"/>
              </a:ext>
            </a:extLst>
          </p:cNvPr>
          <p:cNvSpPr txBox="1"/>
          <p:nvPr/>
        </p:nvSpPr>
        <p:spPr>
          <a:xfrm>
            <a:off x="838200" y="5308600"/>
            <a:ext cx="5969000" cy="369332"/>
          </a:xfrm>
          <a:prstGeom prst="rect">
            <a:avLst/>
          </a:prstGeom>
          <a:noFill/>
        </p:spPr>
        <p:txBody>
          <a:bodyPr vert="horz" wrap="square" lIns="0" tIns="0" rIns="0" bIns="0" rtlCol="0">
            <a:noAutofit/>
          </a:bodyPr>
          <a:lstStyle/>
          <a:p>
            <a:r>
              <a:rPr lang="en-US" b="1">
                <a:solidFill>
                  <a:srgbClr val="B42318"/>
                </a:solidFill>
                <a:latin typeface="Calibri" panose="020F0502020204030204" pitchFamily="34" charset="0"/>
              </a:rPr>
              <a:t>[MENTOR NAME – TO BE FILLED]</a:t>
            </a:r>
            <a:endParaRPr lang="en-IN" b="1">
              <a:solidFill>
                <a:srgbClr val="B42318"/>
              </a:solidFill>
              <a:latin typeface="Calibri" panose="020F0502020204030204" pitchFamily="34" charset="0"/>
            </a:endParaRPr>
          </a:p>
        </p:txBody>
      </p:sp>
      <p:sp>
        <p:nvSpPr>
          <p:cNvPr id="18" name="TextBox 17">
            <a:extLst>
              <a:ext uri="{FF2B5EF4-FFF2-40B4-BE49-F238E27FC236}">
                <a16:creationId xmlns:a16="http://schemas.microsoft.com/office/drawing/2014/main" id="{5C9295DC-B6D3-2D49-4C7C-D058CC16C27A}"/>
              </a:ext>
            </a:extLst>
          </p:cNvPr>
          <p:cNvSpPr txBox="1"/>
          <p:nvPr/>
        </p:nvSpPr>
        <p:spPr>
          <a:xfrm>
            <a:off x="7112000" y="5308600"/>
            <a:ext cx="3810000" cy="369332"/>
          </a:xfrm>
          <a:prstGeom prst="rect">
            <a:avLst/>
          </a:prstGeom>
          <a:noFill/>
        </p:spPr>
        <p:txBody>
          <a:bodyPr vert="horz" wrap="square" lIns="0" tIns="0" rIns="0" bIns="0" rtlCol="0">
            <a:noAutofit/>
          </a:bodyPr>
          <a:lstStyle/>
          <a:p>
            <a:pPr algn="r"/>
            <a:r>
              <a:rPr lang="en-IN" b="1">
                <a:solidFill>
                  <a:srgbClr val="1B1B1B"/>
                </a:solidFill>
                <a:latin typeface="Calibri" panose="020F0502020204030204" pitchFamily="34" charset="0"/>
              </a:rPr>
              <a:t>Interactions completed: ______</a:t>
            </a:r>
          </a:p>
        </p:txBody>
      </p:sp>
    </p:spTree>
    <p:extLst>
      <p:ext uri="{BB962C8B-B14F-4D97-AF65-F5344CB8AC3E}">
        <p14:creationId xmlns:p14="http://schemas.microsoft.com/office/powerpoint/2010/main" val="3377752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7B82B4-4A34-9742-4E5C-554AA60B01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41100" y="177800"/>
            <a:ext cx="584200" cy="584200"/>
          </a:xfrm>
          <a:prstGeom prst="rect">
            <a:avLst/>
          </a:prstGeom>
        </p:spPr>
      </p:pic>
      <p:sp>
        <p:nvSpPr>
          <p:cNvPr id="4" name="Title">
            <a:extLst>
              <a:ext uri="{FF2B5EF4-FFF2-40B4-BE49-F238E27FC236}">
                <a16:creationId xmlns:a16="http://schemas.microsoft.com/office/drawing/2014/main" id="{CAFCEF7C-ECC5-4CC8-05C6-2F80B2A68FA3}"/>
              </a:ext>
            </a:extLst>
          </p:cNvPr>
          <p:cNvSpPr txBox="1"/>
          <p:nvPr/>
        </p:nvSpPr>
        <p:spPr>
          <a:xfrm>
            <a:off x="698500" y="482600"/>
            <a:ext cx="10414000" cy="369332"/>
          </a:xfrm>
          <a:prstGeom prst="rect">
            <a:avLst/>
          </a:prstGeom>
          <a:noFill/>
        </p:spPr>
        <p:txBody>
          <a:bodyPr vert="horz" wrap="square" lIns="0" tIns="0" rIns="0" bIns="0" rtlCol="0">
            <a:noAutofit/>
          </a:bodyPr>
          <a:lstStyle/>
          <a:p>
            <a:r>
              <a:rPr lang="en-IN" sz="3000" b="1">
                <a:solidFill>
                  <a:srgbClr val="17396B"/>
                </a:solidFill>
                <a:latin typeface="Calibri" panose="020F0502020204030204" pitchFamily="34" charset="0"/>
              </a:rPr>
              <a:t>Problem Statement &amp; Motivation</a:t>
            </a:r>
          </a:p>
        </p:txBody>
      </p:sp>
      <p:cxnSp>
        <p:nvCxnSpPr>
          <p:cNvPr id="5" name="Straight Connector 4">
            <a:extLst>
              <a:ext uri="{FF2B5EF4-FFF2-40B4-BE49-F238E27FC236}">
                <a16:creationId xmlns:a16="http://schemas.microsoft.com/office/drawing/2014/main" id="{6CB85471-EB45-05DC-4E86-A64D2D1C4AE6}"/>
              </a:ext>
            </a:extLst>
          </p:cNvPr>
          <p:cNvCxnSpPr/>
          <p:nvPr/>
        </p:nvCxnSpPr>
        <p:spPr>
          <a:xfrm>
            <a:off x="698500" y="1320800"/>
            <a:ext cx="10795000" cy="0"/>
          </a:xfrm>
          <a:prstGeom prst="line">
            <a:avLst/>
          </a:prstGeom>
          <a:ln w="22225">
            <a:solidFill>
              <a:srgbClr val="17396B"/>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8CA0F69-7B1F-FDC9-B75B-47927F7AB932}"/>
              </a:ext>
            </a:extLst>
          </p:cNvPr>
          <p:cNvSpPr txBox="1"/>
          <p:nvPr/>
        </p:nvSpPr>
        <p:spPr>
          <a:xfrm>
            <a:off x="228600" y="6502400"/>
            <a:ext cx="8890000" cy="369332"/>
          </a:xfrm>
          <a:prstGeom prst="rect">
            <a:avLst/>
          </a:prstGeom>
          <a:noFill/>
        </p:spPr>
        <p:txBody>
          <a:bodyPr vert="horz" wrap="square" lIns="0" tIns="0" rIns="0" bIns="0" rtlCol="0">
            <a:noAutofit/>
          </a:bodyPr>
          <a:lstStyle/>
          <a:p>
            <a:r>
              <a:rPr lang="en-US" sz="1050">
                <a:solidFill>
                  <a:srgbClr val="17396B"/>
                </a:solidFill>
                <a:latin typeface="Calibri" panose="020F0502020204030204" pitchFamily="34" charset="0"/>
              </a:rPr>
              <a:t>Department of Computer Science &amp; Engineering — Graphic Era (Deemed to be University)</a:t>
            </a:r>
            <a:endParaRPr lang="en-IN" sz="1050">
              <a:solidFill>
                <a:srgbClr val="17396B"/>
              </a:solidFill>
              <a:latin typeface="Calibri" panose="020F0502020204030204" pitchFamily="34" charset="0"/>
            </a:endParaRPr>
          </a:p>
        </p:txBody>
      </p:sp>
      <p:sp>
        <p:nvSpPr>
          <p:cNvPr id="7" name="TextBox 6">
            <a:extLst>
              <a:ext uri="{FF2B5EF4-FFF2-40B4-BE49-F238E27FC236}">
                <a16:creationId xmlns:a16="http://schemas.microsoft.com/office/drawing/2014/main" id="{651D1E17-5B68-B27C-D1EA-9DFB7F698EE9}"/>
              </a:ext>
            </a:extLst>
          </p:cNvPr>
          <p:cNvSpPr txBox="1"/>
          <p:nvPr/>
        </p:nvSpPr>
        <p:spPr>
          <a:xfrm>
            <a:off x="11049000" y="6502400"/>
            <a:ext cx="914400" cy="369332"/>
          </a:xfrm>
          <a:prstGeom prst="rect">
            <a:avLst/>
          </a:prstGeom>
          <a:noFill/>
        </p:spPr>
        <p:txBody>
          <a:bodyPr vert="horz" wrap="square" lIns="0" tIns="0" rIns="0" bIns="0" rtlCol="0">
            <a:noAutofit/>
          </a:bodyPr>
          <a:lstStyle/>
          <a:p>
            <a:pPr algn="r"/>
            <a:r>
              <a:rPr lang="en-IN" sz="1050">
                <a:solidFill>
                  <a:srgbClr val="1B1B1B"/>
                </a:solidFill>
                <a:latin typeface="Calibri" panose="020F0502020204030204" pitchFamily="34" charset="0"/>
              </a:rPr>
              <a:t>3/10</a:t>
            </a:r>
          </a:p>
        </p:txBody>
      </p:sp>
      <p:sp>
        <p:nvSpPr>
          <p:cNvPr id="8" name="Rectangle: Rounded Corners 7">
            <a:extLst>
              <a:ext uri="{FF2B5EF4-FFF2-40B4-BE49-F238E27FC236}">
                <a16:creationId xmlns:a16="http://schemas.microsoft.com/office/drawing/2014/main" id="{DB9277BA-E6EC-E421-32E9-06155592F59B}"/>
              </a:ext>
            </a:extLst>
          </p:cNvPr>
          <p:cNvSpPr/>
          <p:nvPr/>
        </p:nvSpPr>
        <p:spPr>
          <a:xfrm>
            <a:off x="635000" y="1574800"/>
            <a:ext cx="10922000" cy="1625600"/>
          </a:xfrm>
          <a:prstGeom prst="roundRect">
            <a:avLst>
              <a:gd name="adj" fmla="val 7813"/>
            </a:avLst>
          </a:prstGeom>
          <a:solidFill>
            <a:srgbClr val="EAF1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DE109AAA-E293-75B2-CB1E-9D98494EA08B}"/>
              </a:ext>
            </a:extLst>
          </p:cNvPr>
          <p:cNvSpPr txBox="1"/>
          <p:nvPr/>
        </p:nvSpPr>
        <p:spPr>
          <a:xfrm>
            <a:off x="838200" y="1676400"/>
            <a:ext cx="10541000" cy="369332"/>
          </a:xfrm>
          <a:prstGeom prst="rect">
            <a:avLst/>
          </a:prstGeom>
          <a:noFill/>
        </p:spPr>
        <p:txBody>
          <a:bodyPr vert="horz" wrap="square" lIns="0" tIns="0" rIns="0" bIns="0" rtlCol="0">
            <a:noAutofit/>
          </a:bodyPr>
          <a:lstStyle/>
          <a:p>
            <a:r>
              <a:rPr lang="en-IN" sz="2000">
                <a:solidFill>
                  <a:srgbClr val="17396B"/>
                </a:solidFill>
                <a:latin typeface="Calibri" panose="020F0502020204030204" pitchFamily="34" charset="0"/>
              </a:rPr>
              <a:t>Problem Statement</a:t>
            </a:r>
          </a:p>
        </p:txBody>
      </p:sp>
      <p:sp>
        <p:nvSpPr>
          <p:cNvPr id="10" name="TextBox 9">
            <a:extLst>
              <a:ext uri="{FF2B5EF4-FFF2-40B4-BE49-F238E27FC236}">
                <a16:creationId xmlns:a16="http://schemas.microsoft.com/office/drawing/2014/main" id="{9438FED6-7922-74FA-6B31-CF289D2E2038}"/>
              </a:ext>
            </a:extLst>
          </p:cNvPr>
          <p:cNvSpPr txBox="1"/>
          <p:nvPr/>
        </p:nvSpPr>
        <p:spPr>
          <a:xfrm>
            <a:off x="838200" y="2082800"/>
            <a:ext cx="10515600" cy="369332"/>
          </a:xfrm>
          <a:prstGeom prst="rect">
            <a:avLst/>
          </a:prstGeom>
          <a:noFill/>
        </p:spPr>
        <p:txBody>
          <a:bodyPr vert="horz" wrap="square" lIns="0" tIns="0" rIns="0" bIns="0" rtlCol="0">
            <a:noAutofit/>
          </a:bodyPr>
          <a:lstStyle/>
          <a:p>
            <a:r>
              <a:rPr lang="en-US" sz="1600">
                <a:solidFill>
                  <a:srgbClr val="1B1B1B"/>
                </a:solidFill>
                <a:latin typeface="Calibri" panose="020F0502020204030204" pitchFamily="34" charset="0"/>
              </a:rPr>
              <a:t>On campus, lost belongings (phones, keys, ID cards, earphones, wallets) are reported through a front desk, word of mouth or chat groups. There is no single, structured place to report and compare lost and found items, so many items are never returned, even when someone has already found them.</a:t>
            </a:r>
            <a:endParaRPr lang="en-IN" sz="1600">
              <a:solidFill>
                <a:srgbClr val="1B1B1B"/>
              </a:solidFill>
              <a:latin typeface="Calibri" panose="020F0502020204030204" pitchFamily="34" charset="0"/>
            </a:endParaRPr>
          </a:p>
        </p:txBody>
      </p:sp>
      <p:sp>
        <p:nvSpPr>
          <p:cNvPr id="11" name="TextBox 10">
            <a:extLst>
              <a:ext uri="{FF2B5EF4-FFF2-40B4-BE49-F238E27FC236}">
                <a16:creationId xmlns:a16="http://schemas.microsoft.com/office/drawing/2014/main" id="{D880CDE6-BD21-C1CC-9E85-D7C88B01C4C3}"/>
              </a:ext>
            </a:extLst>
          </p:cNvPr>
          <p:cNvSpPr txBox="1"/>
          <p:nvPr/>
        </p:nvSpPr>
        <p:spPr>
          <a:xfrm>
            <a:off x="698500" y="3429000"/>
            <a:ext cx="5334000" cy="369332"/>
          </a:xfrm>
          <a:prstGeom prst="rect">
            <a:avLst/>
          </a:prstGeom>
          <a:noFill/>
        </p:spPr>
        <p:txBody>
          <a:bodyPr vert="horz" wrap="square" lIns="0" tIns="0" rIns="0" bIns="0" rtlCol="0">
            <a:noAutofit/>
          </a:bodyPr>
          <a:lstStyle/>
          <a:p>
            <a:r>
              <a:rPr lang="en-IN" sz="2000" b="1">
                <a:solidFill>
                  <a:srgbClr val="17396B"/>
                </a:solidFill>
                <a:latin typeface="Calibri" panose="020F0502020204030204" pitchFamily="34" charset="0"/>
              </a:rPr>
              <a:t>Motivation</a:t>
            </a:r>
          </a:p>
        </p:txBody>
      </p:sp>
      <p:sp>
        <p:nvSpPr>
          <p:cNvPr id="12" name="TextBox 11">
            <a:extLst>
              <a:ext uri="{FF2B5EF4-FFF2-40B4-BE49-F238E27FC236}">
                <a16:creationId xmlns:a16="http://schemas.microsoft.com/office/drawing/2014/main" id="{0AAC1E28-BA7D-4207-ED57-D5E126ABE6EC}"/>
              </a:ext>
            </a:extLst>
          </p:cNvPr>
          <p:cNvSpPr txBox="1"/>
          <p:nvPr/>
        </p:nvSpPr>
        <p:spPr>
          <a:xfrm>
            <a:off x="698500" y="3860800"/>
            <a:ext cx="5334000" cy="369332"/>
          </a:xfrm>
          <a:prstGeom prst="rect">
            <a:avLst/>
          </a:prstGeom>
          <a:noFill/>
        </p:spPr>
        <p:txBody>
          <a:bodyPr vert="horz" wrap="square" lIns="0" tIns="0" rIns="0" bIns="0" rtlCol="0">
            <a:noAutofit/>
          </a:bodyPr>
          <a:lstStyle/>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Reporting is manual and fragmented</a:t>
            </a:r>
          </a:p>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Reports have no common structure</a:t>
            </a:r>
          </a:p>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No matching of lost with found items</a:t>
            </a:r>
          </a:p>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Recovery depends largely on luck</a:t>
            </a:r>
            <a:endParaRPr lang="en-IN" sz="1600">
              <a:solidFill>
                <a:srgbClr val="1B1B1B"/>
              </a:solidFill>
              <a:latin typeface="Calibri" panose="020F0502020204030204" pitchFamily="34" charset="0"/>
            </a:endParaRPr>
          </a:p>
        </p:txBody>
      </p:sp>
      <p:sp>
        <p:nvSpPr>
          <p:cNvPr id="13" name="TextBox 12">
            <a:extLst>
              <a:ext uri="{FF2B5EF4-FFF2-40B4-BE49-F238E27FC236}">
                <a16:creationId xmlns:a16="http://schemas.microsoft.com/office/drawing/2014/main" id="{E53FF65D-984B-C0F7-4991-9AB3F676322C}"/>
              </a:ext>
            </a:extLst>
          </p:cNvPr>
          <p:cNvSpPr txBox="1"/>
          <p:nvPr/>
        </p:nvSpPr>
        <p:spPr>
          <a:xfrm>
            <a:off x="6350000" y="3429000"/>
            <a:ext cx="5334000" cy="369332"/>
          </a:xfrm>
          <a:prstGeom prst="rect">
            <a:avLst/>
          </a:prstGeom>
          <a:noFill/>
        </p:spPr>
        <p:txBody>
          <a:bodyPr vert="horz" wrap="square" lIns="0" tIns="0" rIns="0" bIns="0" rtlCol="0">
            <a:noAutofit/>
          </a:bodyPr>
          <a:lstStyle/>
          <a:p>
            <a:r>
              <a:rPr lang="en-IN" sz="2000" b="1">
                <a:solidFill>
                  <a:srgbClr val="17396B"/>
                </a:solidFill>
                <a:latin typeface="Calibri" panose="020F0502020204030204" pitchFamily="34" charset="0"/>
              </a:rPr>
              <a:t>Target Users / Stakeholders</a:t>
            </a:r>
          </a:p>
        </p:txBody>
      </p:sp>
      <p:sp>
        <p:nvSpPr>
          <p:cNvPr id="14" name="TextBox 13">
            <a:extLst>
              <a:ext uri="{FF2B5EF4-FFF2-40B4-BE49-F238E27FC236}">
                <a16:creationId xmlns:a16="http://schemas.microsoft.com/office/drawing/2014/main" id="{B02D9112-B411-AB33-C8E9-780BA3DF3D3F}"/>
              </a:ext>
            </a:extLst>
          </p:cNvPr>
          <p:cNvSpPr txBox="1"/>
          <p:nvPr/>
        </p:nvSpPr>
        <p:spPr>
          <a:xfrm>
            <a:off x="6350000" y="3860800"/>
            <a:ext cx="5207000" cy="369332"/>
          </a:xfrm>
          <a:prstGeom prst="rect">
            <a:avLst/>
          </a:prstGeom>
          <a:noFill/>
        </p:spPr>
        <p:txBody>
          <a:bodyPr vert="horz" wrap="square" lIns="0" tIns="0" rIns="0" bIns="0" rtlCol="0">
            <a:noAutofit/>
          </a:bodyPr>
          <a:lstStyle/>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Primary: students, faculty and staff</a:t>
            </a:r>
          </a:p>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Secondary: campus Lost &amp; Found / security desk</a:t>
            </a:r>
          </a:p>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Benefit: one platform to report, search, match, track</a:t>
            </a:r>
            <a:endParaRPr lang="en-IN" sz="1600">
              <a:solidFill>
                <a:srgbClr val="1B1B1B"/>
              </a:solidFill>
              <a:latin typeface="Calibri" panose="020F0502020204030204" pitchFamily="34" charset="0"/>
            </a:endParaRPr>
          </a:p>
        </p:txBody>
      </p:sp>
    </p:spTree>
    <p:extLst>
      <p:ext uri="{BB962C8B-B14F-4D97-AF65-F5344CB8AC3E}">
        <p14:creationId xmlns:p14="http://schemas.microsoft.com/office/powerpoint/2010/main" val="2869474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B6C5F3-6B78-5029-033D-F19B3FF216B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41100" y="177800"/>
            <a:ext cx="584200" cy="584200"/>
          </a:xfrm>
          <a:prstGeom prst="rect">
            <a:avLst/>
          </a:prstGeom>
        </p:spPr>
      </p:pic>
      <p:sp>
        <p:nvSpPr>
          <p:cNvPr id="4" name="Title">
            <a:extLst>
              <a:ext uri="{FF2B5EF4-FFF2-40B4-BE49-F238E27FC236}">
                <a16:creationId xmlns:a16="http://schemas.microsoft.com/office/drawing/2014/main" id="{7C23FB06-71EF-B689-2987-5FEC5C20A123}"/>
              </a:ext>
            </a:extLst>
          </p:cNvPr>
          <p:cNvSpPr txBox="1"/>
          <p:nvPr/>
        </p:nvSpPr>
        <p:spPr>
          <a:xfrm>
            <a:off x="698500" y="482600"/>
            <a:ext cx="10414000" cy="369332"/>
          </a:xfrm>
          <a:prstGeom prst="rect">
            <a:avLst/>
          </a:prstGeom>
          <a:noFill/>
        </p:spPr>
        <p:txBody>
          <a:bodyPr vert="horz" wrap="square" lIns="0" tIns="0" rIns="0" bIns="0" rtlCol="0">
            <a:noAutofit/>
          </a:bodyPr>
          <a:lstStyle/>
          <a:p>
            <a:r>
              <a:rPr lang="en-IN" sz="3000" b="1">
                <a:solidFill>
                  <a:srgbClr val="17396B"/>
                </a:solidFill>
                <a:latin typeface="Calibri" panose="020F0502020204030204" pitchFamily="34" charset="0"/>
              </a:rPr>
              <a:t>Objectives</a:t>
            </a:r>
          </a:p>
        </p:txBody>
      </p:sp>
      <p:cxnSp>
        <p:nvCxnSpPr>
          <p:cNvPr id="5" name="Straight Connector 4">
            <a:extLst>
              <a:ext uri="{FF2B5EF4-FFF2-40B4-BE49-F238E27FC236}">
                <a16:creationId xmlns:a16="http://schemas.microsoft.com/office/drawing/2014/main" id="{5E10B809-1D67-71B1-5B23-E229D6729760}"/>
              </a:ext>
            </a:extLst>
          </p:cNvPr>
          <p:cNvCxnSpPr/>
          <p:nvPr/>
        </p:nvCxnSpPr>
        <p:spPr>
          <a:xfrm>
            <a:off x="698500" y="1320800"/>
            <a:ext cx="10795000" cy="0"/>
          </a:xfrm>
          <a:prstGeom prst="line">
            <a:avLst/>
          </a:prstGeom>
          <a:ln w="22225">
            <a:solidFill>
              <a:srgbClr val="17396B"/>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219C7E1-668F-830D-7BC1-E3FC42355958}"/>
              </a:ext>
            </a:extLst>
          </p:cNvPr>
          <p:cNvSpPr txBox="1"/>
          <p:nvPr/>
        </p:nvSpPr>
        <p:spPr>
          <a:xfrm>
            <a:off x="228600" y="6502400"/>
            <a:ext cx="8890000" cy="369332"/>
          </a:xfrm>
          <a:prstGeom prst="rect">
            <a:avLst/>
          </a:prstGeom>
          <a:noFill/>
        </p:spPr>
        <p:txBody>
          <a:bodyPr vert="horz" wrap="square" lIns="0" tIns="0" rIns="0" bIns="0" rtlCol="0">
            <a:noAutofit/>
          </a:bodyPr>
          <a:lstStyle/>
          <a:p>
            <a:r>
              <a:rPr lang="en-US" sz="1050">
                <a:solidFill>
                  <a:srgbClr val="17396B"/>
                </a:solidFill>
                <a:latin typeface="Calibri" panose="020F0502020204030204" pitchFamily="34" charset="0"/>
              </a:rPr>
              <a:t>Department of Computer Science &amp; Engineering — Graphic Era (Deemed to be University)</a:t>
            </a:r>
            <a:endParaRPr lang="en-IN" sz="1050">
              <a:solidFill>
                <a:srgbClr val="17396B"/>
              </a:solidFill>
              <a:latin typeface="Calibri" panose="020F0502020204030204" pitchFamily="34" charset="0"/>
            </a:endParaRPr>
          </a:p>
        </p:txBody>
      </p:sp>
      <p:sp>
        <p:nvSpPr>
          <p:cNvPr id="7" name="TextBox 6">
            <a:extLst>
              <a:ext uri="{FF2B5EF4-FFF2-40B4-BE49-F238E27FC236}">
                <a16:creationId xmlns:a16="http://schemas.microsoft.com/office/drawing/2014/main" id="{49AFA6A8-B875-A60C-F938-B84AFCE4CD31}"/>
              </a:ext>
            </a:extLst>
          </p:cNvPr>
          <p:cNvSpPr txBox="1"/>
          <p:nvPr/>
        </p:nvSpPr>
        <p:spPr>
          <a:xfrm>
            <a:off x="11049000" y="6502400"/>
            <a:ext cx="914400" cy="369332"/>
          </a:xfrm>
          <a:prstGeom prst="rect">
            <a:avLst/>
          </a:prstGeom>
          <a:noFill/>
        </p:spPr>
        <p:txBody>
          <a:bodyPr vert="horz" wrap="square" lIns="0" tIns="0" rIns="0" bIns="0" rtlCol="0">
            <a:noAutofit/>
          </a:bodyPr>
          <a:lstStyle/>
          <a:p>
            <a:pPr algn="r"/>
            <a:r>
              <a:rPr lang="en-IN" sz="1050">
                <a:solidFill>
                  <a:srgbClr val="1B1B1B"/>
                </a:solidFill>
                <a:latin typeface="Calibri" panose="020F0502020204030204" pitchFamily="34" charset="0"/>
              </a:rPr>
              <a:t>4/10</a:t>
            </a:r>
          </a:p>
        </p:txBody>
      </p:sp>
      <p:sp>
        <p:nvSpPr>
          <p:cNvPr id="8" name="TextBox 7">
            <a:extLst>
              <a:ext uri="{FF2B5EF4-FFF2-40B4-BE49-F238E27FC236}">
                <a16:creationId xmlns:a16="http://schemas.microsoft.com/office/drawing/2014/main" id="{7D780841-E738-6DE8-B79C-62EC08B2C34D}"/>
              </a:ext>
            </a:extLst>
          </p:cNvPr>
          <p:cNvSpPr txBox="1"/>
          <p:nvPr/>
        </p:nvSpPr>
        <p:spPr>
          <a:xfrm>
            <a:off x="698500" y="1549400"/>
            <a:ext cx="7620000" cy="369332"/>
          </a:xfrm>
          <a:prstGeom prst="rect">
            <a:avLst/>
          </a:prstGeom>
          <a:noFill/>
        </p:spPr>
        <p:txBody>
          <a:bodyPr vert="horz" wrap="square" lIns="0" tIns="0" rIns="0" bIns="0" rtlCol="0">
            <a:noAutofit/>
          </a:bodyPr>
          <a:lstStyle/>
          <a:p>
            <a:r>
              <a:rPr lang="en-US" sz="2000" b="1">
                <a:solidFill>
                  <a:srgbClr val="17396B"/>
                </a:solidFill>
                <a:latin typeface="Calibri" panose="020F0502020204030204" pitchFamily="34" charset="0"/>
              </a:rPr>
              <a:t>Project Objectives and Phase-II Status</a:t>
            </a:r>
            <a:endParaRPr lang="en-IN" sz="2000" b="1">
              <a:solidFill>
                <a:srgbClr val="17396B"/>
              </a:solidFill>
              <a:latin typeface="Calibri" panose="020F0502020204030204" pitchFamily="34" charset="0"/>
            </a:endParaRPr>
          </a:p>
        </p:txBody>
      </p:sp>
      <p:sp>
        <p:nvSpPr>
          <p:cNvPr id="9" name="TextBox 8">
            <a:extLst>
              <a:ext uri="{FF2B5EF4-FFF2-40B4-BE49-F238E27FC236}">
                <a16:creationId xmlns:a16="http://schemas.microsoft.com/office/drawing/2014/main" id="{D9910A51-24AB-403D-ED21-A9E8F7A98052}"/>
              </a:ext>
            </a:extLst>
          </p:cNvPr>
          <p:cNvSpPr txBox="1"/>
          <p:nvPr/>
        </p:nvSpPr>
        <p:spPr>
          <a:xfrm>
            <a:off x="889000" y="2057400"/>
            <a:ext cx="304800" cy="369332"/>
          </a:xfrm>
          <a:prstGeom prst="rect">
            <a:avLst/>
          </a:prstGeom>
          <a:noFill/>
        </p:spPr>
        <p:txBody>
          <a:bodyPr vert="horz" wrap="square" lIns="0" tIns="0" rIns="0" bIns="0" rtlCol="0">
            <a:noAutofit/>
          </a:bodyPr>
          <a:lstStyle/>
          <a:p>
            <a:r>
              <a:rPr lang="en-IN" sz="1700">
                <a:solidFill>
                  <a:srgbClr val="17396B"/>
                </a:solidFill>
                <a:latin typeface="Calibri" panose="020F0502020204030204" pitchFamily="34" charset="0"/>
              </a:rPr>
              <a:t>1.</a:t>
            </a:r>
          </a:p>
        </p:txBody>
      </p:sp>
      <p:sp>
        <p:nvSpPr>
          <p:cNvPr id="10" name="TextBox 9">
            <a:extLst>
              <a:ext uri="{FF2B5EF4-FFF2-40B4-BE49-F238E27FC236}">
                <a16:creationId xmlns:a16="http://schemas.microsoft.com/office/drawing/2014/main" id="{051B6E92-1D8B-37CF-185F-BBFB5A5DFE72}"/>
              </a:ext>
            </a:extLst>
          </p:cNvPr>
          <p:cNvSpPr txBox="1"/>
          <p:nvPr/>
        </p:nvSpPr>
        <p:spPr>
          <a:xfrm>
            <a:off x="1219200" y="2057400"/>
            <a:ext cx="8128000" cy="369332"/>
          </a:xfrm>
          <a:prstGeom prst="rect">
            <a:avLst/>
          </a:prstGeom>
          <a:noFill/>
        </p:spPr>
        <p:txBody>
          <a:bodyPr vert="horz" wrap="square" lIns="0" tIns="0" rIns="0" bIns="0" rtlCol="0">
            <a:noAutofit/>
          </a:bodyPr>
          <a:lstStyle/>
          <a:p>
            <a:r>
              <a:rPr lang="en-US" sz="1700">
                <a:solidFill>
                  <a:srgbClr val="1B1B1B"/>
                </a:solidFill>
                <a:latin typeface="Calibri" panose="020F0502020204030204" pitchFamily="34" charset="0"/>
              </a:rPr>
              <a:t>Develop a centralized solution for campus lost &amp; found</a:t>
            </a:r>
            <a:endParaRPr lang="en-IN" sz="1700">
              <a:solidFill>
                <a:srgbClr val="1B1B1B"/>
              </a:solidFill>
              <a:latin typeface="Calibri" panose="020F0502020204030204" pitchFamily="34" charset="0"/>
            </a:endParaRPr>
          </a:p>
        </p:txBody>
      </p:sp>
      <p:sp>
        <p:nvSpPr>
          <p:cNvPr id="11" name="Rectangle: Rounded Corners 10">
            <a:extLst>
              <a:ext uri="{FF2B5EF4-FFF2-40B4-BE49-F238E27FC236}">
                <a16:creationId xmlns:a16="http://schemas.microsoft.com/office/drawing/2014/main" id="{F0CB5A50-9FC2-4491-5C8F-5A63C1605CBD}"/>
              </a:ext>
            </a:extLst>
          </p:cNvPr>
          <p:cNvSpPr/>
          <p:nvPr/>
        </p:nvSpPr>
        <p:spPr>
          <a:xfrm>
            <a:off x="10033000" y="2070100"/>
            <a:ext cx="1270000" cy="254000"/>
          </a:xfrm>
          <a:prstGeom prst="roundRect">
            <a:avLst>
              <a:gd name="adj" fmla="val 50000"/>
            </a:avLst>
          </a:prstGeom>
          <a:solidFill>
            <a:srgbClr val="E2EC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IN" sz="1100" b="1">
                <a:solidFill>
                  <a:srgbClr val="1A4F8A"/>
                </a:solidFill>
                <a:latin typeface="Calibri" panose="020F0502020204030204" pitchFamily="34" charset="0"/>
              </a:rPr>
              <a:t>In progress</a:t>
            </a:r>
          </a:p>
        </p:txBody>
      </p:sp>
      <p:sp>
        <p:nvSpPr>
          <p:cNvPr id="12" name="TextBox 11">
            <a:extLst>
              <a:ext uri="{FF2B5EF4-FFF2-40B4-BE49-F238E27FC236}">
                <a16:creationId xmlns:a16="http://schemas.microsoft.com/office/drawing/2014/main" id="{CE8CB9BA-46D1-AA5E-3F82-228369A14AF3}"/>
              </a:ext>
            </a:extLst>
          </p:cNvPr>
          <p:cNvSpPr txBox="1"/>
          <p:nvPr/>
        </p:nvSpPr>
        <p:spPr>
          <a:xfrm>
            <a:off x="889000" y="2641600"/>
            <a:ext cx="304800" cy="369332"/>
          </a:xfrm>
          <a:prstGeom prst="rect">
            <a:avLst/>
          </a:prstGeom>
          <a:noFill/>
        </p:spPr>
        <p:txBody>
          <a:bodyPr vert="horz" wrap="square" lIns="0" tIns="0" rIns="0" bIns="0" rtlCol="0">
            <a:noAutofit/>
          </a:bodyPr>
          <a:lstStyle/>
          <a:p>
            <a:r>
              <a:rPr lang="en-IN" sz="1700">
                <a:solidFill>
                  <a:srgbClr val="17396B"/>
                </a:solidFill>
                <a:latin typeface="Calibri" panose="020F0502020204030204" pitchFamily="34" charset="0"/>
              </a:rPr>
              <a:t>2.</a:t>
            </a:r>
          </a:p>
        </p:txBody>
      </p:sp>
      <p:sp>
        <p:nvSpPr>
          <p:cNvPr id="13" name="TextBox 12">
            <a:extLst>
              <a:ext uri="{FF2B5EF4-FFF2-40B4-BE49-F238E27FC236}">
                <a16:creationId xmlns:a16="http://schemas.microsoft.com/office/drawing/2014/main" id="{855C753E-53D4-7C0E-5575-EC5276683D0C}"/>
              </a:ext>
            </a:extLst>
          </p:cNvPr>
          <p:cNvSpPr txBox="1"/>
          <p:nvPr/>
        </p:nvSpPr>
        <p:spPr>
          <a:xfrm>
            <a:off x="1219200" y="2641600"/>
            <a:ext cx="8128000" cy="369332"/>
          </a:xfrm>
          <a:prstGeom prst="rect">
            <a:avLst/>
          </a:prstGeom>
          <a:noFill/>
        </p:spPr>
        <p:txBody>
          <a:bodyPr vert="horz" wrap="square" lIns="0" tIns="0" rIns="0" bIns="0" rtlCol="0">
            <a:noAutofit/>
          </a:bodyPr>
          <a:lstStyle/>
          <a:p>
            <a:r>
              <a:rPr lang="en-US" sz="1700">
                <a:solidFill>
                  <a:srgbClr val="1B1B1B"/>
                </a:solidFill>
                <a:latin typeface="Calibri" panose="020F0502020204030204" pitchFamily="34" charset="0"/>
              </a:rPr>
              <a:t>Implement core functionality (Modules 1–3 done; claims planned)</a:t>
            </a:r>
            <a:endParaRPr lang="en-IN" sz="1700">
              <a:solidFill>
                <a:srgbClr val="1B1B1B"/>
              </a:solidFill>
              <a:latin typeface="Calibri" panose="020F0502020204030204" pitchFamily="34" charset="0"/>
            </a:endParaRPr>
          </a:p>
        </p:txBody>
      </p:sp>
      <p:sp>
        <p:nvSpPr>
          <p:cNvPr id="14" name="Rectangle: Rounded Corners 13">
            <a:extLst>
              <a:ext uri="{FF2B5EF4-FFF2-40B4-BE49-F238E27FC236}">
                <a16:creationId xmlns:a16="http://schemas.microsoft.com/office/drawing/2014/main" id="{368B9470-FB57-C533-874E-CBA672295219}"/>
              </a:ext>
            </a:extLst>
          </p:cNvPr>
          <p:cNvSpPr/>
          <p:nvPr/>
        </p:nvSpPr>
        <p:spPr>
          <a:xfrm>
            <a:off x="10033000" y="2654300"/>
            <a:ext cx="1270000" cy="254000"/>
          </a:xfrm>
          <a:prstGeom prst="roundRect">
            <a:avLst>
              <a:gd name="adj" fmla="val 50000"/>
            </a:avLst>
          </a:prstGeom>
          <a:solidFill>
            <a:srgbClr val="E3F4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IN" sz="1100" b="1">
                <a:solidFill>
                  <a:srgbClr val="1D7A46"/>
                </a:solidFill>
                <a:latin typeface="Calibri" panose="020F0502020204030204" pitchFamily="34" charset="0"/>
              </a:rPr>
              <a:t>Achieved</a:t>
            </a:r>
          </a:p>
        </p:txBody>
      </p:sp>
      <p:sp>
        <p:nvSpPr>
          <p:cNvPr id="15" name="TextBox 14">
            <a:extLst>
              <a:ext uri="{FF2B5EF4-FFF2-40B4-BE49-F238E27FC236}">
                <a16:creationId xmlns:a16="http://schemas.microsoft.com/office/drawing/2014/main" id="{C1EF3A0D-C458-3CA1-8DBB-2CFA6EC8E7C3}"/>
              </a:ext>
            </a:extLst>
          </p:cNvPr>
          <p:cNvSpPr txBox="1"/>
          <p:nvPr/>
        </p:nvSpPr>
        <p:spPr>
          <a:xfrm>
            <a:off x="889000" y="3225800"/>
            <a:ext cx="304800" cy="369332"/>
          </a:xfrm>
          <a:prstGeom prst="rect">
            <a:avLst/>
          </a:prstGeom>
          <a:noFill/>
        </p:spPr>
        <p:txBody>
          <a:bodyPr vert="horz" wrap="square" lIns="0" tIns="0" rIns="0" bIns="0" rtlCol="0">
            <a:noAutofit/>
          </a:bodyPr>
          <a:lstStyle/>
          <a:p>
            <a:r>
              <a:rPr lang="en-IN" sz="1700">
                <a:solidFill>
                  <a:srgbClr val="17396B"/>
                </a:solidFill>
                <a:latin typeface="Calibri" panose="020F0502020204030204" pitchFamily="34" charset="0"/>
              </a:rPr>
              <a:t>3.</a:t>
            </a:r>
          </a:p>
        </p:txBody>
      </p:sp>
      <p:sp>
        <p:nvSpPr>
          <p:cNvPr id="16" name="TextBox 15">
            <a:extLst>
              <a:ext uri="{FF2B5EF4-FFF2-40B4-BE49-F238E27FC236}">
                <a16:creationId xmlns:a16="http://schemas.microsoft.com/office/drawing/2014/main" id="{BC130DBA-099A-32B2-ABE2-6DC39F821D27}"/>
              </a:ext>
            </a:extLst>
          </p:cNvPr>
          <p:cNvSpPr txBox="1"/>
          <p:nvPr/>
        </p:nvSpPr>
        <p:spPr>
          <a:xfrm>
            <a:off x="1219200" y="3225800"/>
            <a:ext cx="8128000" cy="369332"/>
          </a:xfrm>
          <a:prstGeom prst="rect">
            <a:avLst/>
          </a:prstGeom>
          <a:noFill/>
        </p:spPr>
        <p:txBody>
          <a:bodyPr vert="horz" wrap="square" lIns="0" tIns="0" rIns="0" bIns="0" rtlCol="0">
            <a:noAutofit/>
          </a:bodyPr>
          <a:lstStyle/>
          <a:p>
            <a:r>
              <a:rPr lang="en-US" sz="1700">
                <a:solidFill>
                  <a:srgbClr val="1B1B1B"/>
                </a:solidFill>
                <a:latin typeface="Calibri" panose="020F0502020204030204" pitchFamily="34" charset="0"/>
              </a:rPr>
              <a:t>Integrate concepts from both PBL subjects</a:t>
            </a:r>
            <a:endParaRPr lang="en-IN" sz="1700">
              <a:solidFill>
                <a:srgbClr val="1B1B1B"/>
              </a:solidFill>
              <a:latin typeface="Calibri" panose="020F0502020204030204" pitchFamily="34" charset="0"/>
            </a:endParaRPr>
          </a:p>
        </p:txBody>
      </p:sp>
      <p:sp>
        <p:nvSpPr>
          <p:cNvPr id="17" name="Rectangle: Rounded Corners 16">
            <a:extLst>
              <a:ext uri="{FF2B5EF4-FFF2-40B4-BE49-F238E27FC236}">
                <a16:creationId xmlns:a16="http://schemas.microsoft.com/office/drawing/2014/main" id="{18530566-5B3C-AAE1-49E9-2F7F5A68C9FC}"/>
              </a:ext>
            </a:extLst>
          </p:cNvPr>
          <p:cNvSpPr/>
          <p:nvPr/>
        </p:nvSpPr>
        <p:spPr>
          <a:xfrm>
            <a:off x="10033000" y="3238500"/>
            <a:ext cx="1270000" cy="254000"/>
          </a:xfrm>
          <a:prstGeom prst="roundRect">
            <a:avLst>
              <a:gd name="adj" fmla="val 50000"/>
            </a:avLst>
          </a:prstGeom>
          <a:solidFill>
            <a:srgbClr val="E2EC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IN" sz="1100" b="1">
                <a:solidFill>
                  <a:srgbClr val="1A4F8A"/>
                </a:solidFill>
                <a:latin typeface="Calibri" panose="020F0502020204030204" pitchFamily="34" charset="0"/>
              </a:rPr>
              <a:t>In progress</a:t>
            </a:r>
          </a:p>
        </p:txBody>
      </p:sp>
      <p:sp>
        <p:nvSpPr>
          <p:cNvPr id="18" name="TextBox 17">
            <a:extLst>
              <a:ext uri="{FF2B5EF4-FFF2-40B4-BE49-F238E27FC236}">
                <a16:creationId xmlns:a16="http://schemas.microsoft.com/office/drawing/2014/main" id="{15132CD9-4537-E430-082E-BBCECF56815F}"/>
              </a:ext>
            </a:extLst>
          </p:cNvPr>
          <p:cNvSpPr txBox="1"/>
          <p:nvPr/>
        </p:nvSpPr>
        <p:spPr>
          <a:xfrm>
            <a:off x="889000" y="3810000"/>
            <a:ext cx="304800" cy="369332"/>
          </a:xfrm>
          <a:prstGeom prst="rect">
            <a:avLst/>
          </a:prstGeom>
          <a:noFill/>
        </p:spPr>
        <p:txBody>
          <a:bodyPr vert="horz" wrap="square" lIns="0" tIns="0" rIns="0" bIns="0" rtlCol="0">
            <a:noAutofit/>
          </a:bodyPr>
          <a:lstStyle/>
          <a:p>
            <a:r>
              <a:rPr lang="en-IN" sz="1700">
                <a:solidFill>
                  <a:srgbClr val="17396B"/>
                </a:solidFill>
                <a:latin typeface="Calibri" panose="020F0502020204030204" pitchFamily="34" charset="0"/>
              </a:rPr>
              <a:t>4.</a:t>
            </a:r>
          </a:p>
        </p:txBody>
      </p:sp>
      <p:sp>
        <p:nvSpPr>
          <p:cNvPr id="19" name="TextBox 18">
            <a:extLst>
              <a:ext uri="{FF2B5EF4-FFF2-40B4-BE49-F238E27FC236}">
                <a16:creationId xmlns:a16="http://schemas.microsoft.com/office/drawing/2014/main" id="{50271F94-80CB-3299-F914-BF953344C264}"/>
              </a:ext>
            </a:extLst>
          </p:cNvPr>
          <p:cNvSpPr txBox="1"/>
          <p:nvPr/>
        </p:nvSpPr>
        <p:spPr>
          <a:xfrm>
            <a:off x="1219200" y="3810000"/>
            <a:ext cx="8128000" cy="369332"/>
          </a:xfrm>
          <a:prstGeom prst="rect">
            <a:avLst/>
          </a:prstGeom>
          <a:noFill/>
        </p:spPr>
        <p:txBody>
          <a:bodyPr vert="horz" wrap="square" lIns="0" tIns="0" rIns="0" bIns="0" rtlCol="0">
            <a:noAutofit/>
          </a:bodyPr>
          <a:lstStyle/>
          <a:p>
            <a:r>
              <a:rPr lang="en-US" sz="1700">
                <a:solidFill>
                  <a:srgbClr val="1B1B1B"/>
                </a:solidFill>
                <a:latin typeface="Calibri" panose="020F0502020204030204" pitchFamily="34" charset="0"/>
              </a:rPr>
              <a:t>Evaluate with test cases (23 unit tests pass)</a:t>
            </a:r>
            <a:endParaRPr lang="en-IN" sz="1700">
              <a:solidFill>
                <a:srgbClr val="1B1B1B"/>
              </a:solidFill>
              <a:latin typeface="Calibri" panose="020F0502020204030204" pitchFamily="34" charset="0"/>
            </a:endParaRPr>
          </a:p>
        </p:txBody>
      </p:sp>
      <p:sp>
        <p:nvSpPr>
          <p:cNvPr id="20" name="Rectangle: Rounded Corners 19">
            <a:extLst>
              <a:ext uri="{FF2B5EF4-FFF2-40B4-BE49-F238E27FC236}">
                <a16:creationId xmlns:a16="http://schemas.microsoft.com/office/drawing/2014/main" id="{23DBEADA-4391-9788-1E46-B08A0418F1A1}"/>
              </a:ext>
            </a:extLst>
          </p:cNvPr>
          <p:cNvSpPr/>
          <p:nvPr/>
        </p:nvSpPr>
        <p:spPr>
          <a:xfrm>
            <a:off x="10033000" y="3822700"/>
            <a:ext cx="1270000" cy="254000"/>
          </a:xfrm>
          <a:prstGeom prst="roundRect">
            <a:avLst>
              <a:gd name="adj" fmla="val 50000"/>
            </a:avLst>
          </a:prstGeom>
          <a:solidFill>
            <a:srgbClr val="E2EC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IN" sz="1100" b="1">
                <a:solidFill>
                  <a:srgbClr val="1A4F8A"/>
                </a:solidFill>
                <a:latin typeface="Calibri" panose="020F0502020204030204" pitchFamily="34" charset="0"/>
              </a:rPr>
              <a:t>In progress</a:t>
            </a:r>
          </a:p>
        </p:txBody>
      </p:sp>
      <p:sp>
        <p:nvSpPr>
          <p:cNvPr id="21" name="TextBox 20">
            <a:extLst>
              <a:ext uri="{FF2B5EF4-FFF2-40B4-BE49-F238E27FC236}">
                <a16:creationId xmlns:a16="http://schemas.microsoft.com/office/drawing/2014/main" id="{DE3E0B24-C3ED-CF62-4D8B-47833AB7547F}"/>
              </a:ext>
            </a:extLst>
          </p:cNvPr>
          <p:cNvSpPr txBox="1"/>
          <p:nvPr/>
        </p:nvSpPr>
        <p:spPr>
          <a:xfrm>
            <a:off x="889000" y="4394200"/>
            <a:ext cx="304800" cy="369332"/>
          </a:xfrm>
          <a:prstGeom prst="rect">
            <a:avLst/>
          </a:prstGeom>
          <a:noFill/>
        </p:spPr>
        <p:txBody>
          <a:bodyPr vert="horz" wrap="square" lIns="0" tIns="0" rIns="0" bIns="0" rtlCol="0">
            <a:noAutofit/>
          </a:bodyPr>
          <a:lstStyle/>
          <a:p>
            <a:r>
              <a:rPr lang="en-IN" sz="1700">
                <a:solidFill>
                  <a:srgbClr val="17396B"/>
                </a:solidFill>
                <a:latin typeface="Calibri" panose="020F0502020204030204" pitchFamily="34" charset="0"/>
              </a:rPr>
              <a:t>5.</a:t>
            </a:r>
          </a:p>
        </p:txBody>
      </p:sp>
      <p:sp>
        <p:nvSpPr>
          <p:cNvPr id="22" name="TextBox 21">
            <a:extLst>
              <a:ext uri="{FF2B5EF4-FFF2-40B4-BE49-F238E27FC236}">
                <a16:creationId xmlns:a16="http://schemas.microsoft.com/office/drawing/2014/main" id="{329D3320-DE5B-1618-158E-702E66D54FFE}"/>
              </a:ext>
            </a:extLst>
          </p:cNvPr>
          <p:cNvSpPr txBox="1"/>
          <p:nvPr/>
        </p:nvSpPr>
        <p:spPr>
          <a:xfrm>
            <a:off x="1219200" y="4394200"/>
            <a:ext cx="8128000" cy="369332"/>
          </a:xfrm>
          <a:prstGeom prst="rect">
            <a:avLst/>
          </a:prstGeom>
          <a:noFill/>
        </p:spPr>
        <p:txBody>
          <a:bodyPr vert="horz" wrap="square" lIns="0" tIns="0" rIns="0" bIns="0" rtlCol="0">
            <a:noAutofit/>
          </a:bodyPr>
          <a:lstStyle/>
          <a:p>
            <a:r>
              <a:rPr lang="en-US" sz="1700">
                <a:solidFill>
                  <a:srgbClr val="1B1B1B"/>
                </a:solidFill>
                <a:latin typeface="Calibri" panose="020F0502020204030204" pitchFamily="34" charset="0"/>
              </a:rPr>
              <a:t>Demonstrate practical applicability and future scope</a:t>
            </a:r>
            <a:endParaRPr lang="en-IN" sz="1700">
              <a:solidFill>
                <a:srgbClr val="1B1B1B"/>
              </a:solidFill>
              <a:latin typeface="Calibri" panose="020F0502020204030204" pitchFamily="34" charset="0"/>
            </a:endParaRPr>
          </a:p>
        </p:txBody>
      </p:sp>
      <p:sp>
        <p:nvSpPr>
          <p:cNvPr id="23" name="Rectangle: Rounded Corners 22">
            <a:extLst>
              <a:ext uri="{FF2B5EF4-FFF2-40B4-BE49-F238E27FC236}">
                <a16:creationId xmlns:a16="http://schemas.microsoft.com/office/drawing/2014/main" id="{ABB704E0-86F8-B7AC-1B13-688D1C650E55}"/>
              </a:ext>
            </a:extLst>
          </p:cNvPr>
          <p:cNvSpPr/>
          <p:nvPr/>
        </p:nvSpPr>
        <p:spPr>
          <a:xfrm>
            <a:off x="10033000" y="4406900"/>
            <a:ext cx="1270000" cy="254000"/>
          </a:xfrm>
          <a:prstGeom prst="roundRect">
            <a:avLst>
              <a:gd name="adj" fmla="val 50000"/>
            </a:avLst>
          </a:prstGeom>
          <a:solidFill>
            <a:srgbClr val="E2EC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IN" sz="1100" b="1">
                <a:solidFill>
                  <a:srgbClr val="1A4F8A"/>
                </a:solidFill>
                <a:latin typeface="Calibri" panose="020F0502020204030204" pitchFamily="34" charset="0"/>
              </a:rPr>
              <a:t>In progress</a:t>
            </a:r>
          </a:p>
        </p:txBody>
      </p:sp>
      <p:sp>
        <p:nvSpPr>
          <p:cNvPr id="24" name="Rectangle: Rounded Corners 23">
            <a:extLst>
              <a:ext uri="{FF2B5EF4-FFF2-40B4-BE49-F238E27FC236}">
                <a16:creationId xmlns:a16="http://schemas.microsoft.com/office/drawing/2014/main" id="{18324B22-ABED-6B66-80BD-57085CC297F5}"/>
              </a:ext>
            </a:extLst>
          </p:cNvPr>
          <p:cNvSpPr/>
          <p:nvPr/>
        </p:nvSpPr>
        <p:spPr>
          <a:xfrm>
            <a:off x="1524000" y="5232400"/>
            <a:ext cx="9144000" cy="685800"/>
          </a:xfrm>
          <a:prstGeom prst="roundRect">
            <a:avLst>
              <a:gd name="adj" fmla="val 8000"/>
            </a:avLst>
          </a:prstGeom>
          <a:solidFill>
            <a:srgbClr val="EAF1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C2996115-9CDB-975F-D6A2-FAB48BEC3C46}"/>
              </a:ext>
            </a:extLst>
          </p:cNvPr>
          <p:cNvSpPr txBox="1"/>
          <p:nvPr/>
        </p:nvSpPr>
        <p:spPr>
          <a:xfrm>
            <a:off x="1727200" y="5308600"/>
            <a:ext cx="8763000" cy="369332"/>
          </a:xfrm>
          <a:prstGeom prst="rect">
            <a:avLst/>
          </a:prstGeom>
          <a:noFill/>
        </p:spPr>
        <p:txBody>
          <a:bodyPr vert="horz" wrap="square" lIns="0" tIns="0" rIns="0" bIns="0" rtlCol="0">
            <a:noAutofit/>
          </a:bodyPr>
          <a:lstStyle/>
          <a:p>
            <a:pPr algn="ctr"/>
            <a:r>
              <a:rPr lang="en-US" sz="1500" b="1">
                <a:solidFill>
                  <a:srgbClr val="1B1B1B"/>
                </a:solidFill>
                <a:latin typeface="Calibri" panose="020F0502020204030204" pitchFamily="34" charset="0"/>
              </a:rPr>
              <a:t>Key objective:</a:t>
            </a:r>
            <a:r>
              <a:rPr lang="en-US" sz="1500">
                <a:solidFill>
                  <a:srgbClr val="1B1B1B"/>
                </a:solidFill>
                <a:latin typeface="Calibri" panose="020F0502020204030204" pitchFamily="34" charset="0"/>
              </a:rPr>
              <a:t> a lost report is compared with every open found report (and vice versa), and likely matches are listed with an explainable score out of 100.</a:t>
            </a:r>
            <a:endParaRPr lang="en-IN" sz="1500">
              <a:solidFill>
                <a:srgbClr val="1B1B1B"/>
              </a:solidFill>
              <a:latin typeface="Calibri" panose="020F0502020204030204" pitchFamily="34" charset="0"/>
            </a:endParaRPr>
          </a:p>
        </p:txBody>
      </p:sp>
    </p:spTree>
    <p:extLst>
      <p:ext uri="{BB962C8B-B14F-4D97-AF65-F5344CB8AC3E}">
        <p14:creationId xmlns:p14="http://schemas.microsoft.com/office/powerpoint/2010/main" val="1385182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7B6E20-4210-E3C5-A86B-E0D0BA8628D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41100" y="177800"/>
            <a:ext cx="584200" cy="584200"/>
          </a:xfrm>
          <a:prstGeom prst="rect">
            <a:avLst/>
          </a:prstGeom>
        </p:spPr>
      </p:pic>
      <p:sp>
        <p:nvSpPr>
          <p:cNvPr id="4" name="Title">
            <a:extLst>
              <a:ext uri="{FF2B5EF4-FFF2-40B4-BE49-F238E27FC236}">
                <a16:creationId xmlns:a16="http://schemas.microsoft.com/office/drawing/2014/main" id="{3D31250B-1AAA-E34D-9B59-0168E6471C14}"/>
              </a:ext>
            </a:extLst>
          </p:cNvPr>
          <p:cNvSpPr txBox="1"/>
          <p:nvPr/>
        </p:nvSpPr>
        <p:spPr>
          <a:xfrm>
            <a:off x="698500" y="482600"/>
            <a:ext cx="10414000" cy="369332"/>
          </a:xfrm>
          <a:prstGeom prst="rect">
            <a:avLst/>
          </a:prstGeom>
          <a:noFill/>
        </p:spPr>
        <p:txBody>
          <a:bodyPr vert="horz" wrap="square" lIns="0" tIns="0" rIns="0" bIns="0" rtlCol="0">
            <a:noAutofit/>
          </a:bodyPr>
          <a:lstStyle/>
          <a:p>
            <a:r>
              <a:rPr lang="en-IN" sz="3000" b="1">
                <a:solidFill>
                  <a:srgbClr val="17396B"/>
                </a:solidFill>
                <a:latin typeface="Calibri" panose="020F0502020204030204" pitchFamily="34" charset="0"/>
              </a:rPr>
              <a:t>Proposed Solution</a:t>
            </a:r>
          </a:p>
        </p:txBody>
      </p:sp>
      <p:cxnSp>
        <p:nvCxnSpPr>
          <p:cNvPr id="5" name="Straight Connector 4">
            <a:extLst>
              <a:ext uri="{FF2B5EF4-FFF2-40B4-BE49-F238E27FC236}">
                <a16:creationId xmlns:a16="http://schemas.microsoft.com/office/drawing/2014/main" id="{E4962017-AD4F-A77D-DE7F-08CA7E0E4443}"/>
              </a:ext>
            </a:extLst>
          </p:cNvPr>
          <p:cNvCxnSpPr/>
          <p:nvPr/>
        </p:nvCxnSpPr>
        <p:spPr>
          <a:xfrm>
            <a:off x="698500" y="1320800"/>
            <a:ext cx="10795000" cy="0"/>
          </a:xfrm>
          <a:prstGeom prst="line">
            <a:avLst/>
          </a:prstGeom>
          <a:ln w="22225">
            <a:solidFill>
              <a:srgbClr val="17396B"/>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CED4308-85AE-B316-FAE0-E7FB1286937E}"/>
              </a:ext>
            </a:extLst>
          </p:cNvPr>
          <p:cNvSpPr txBox="1"/>
          <p:nvPr/>
        </p:nvSpPr>
        <p:spPr>
          <a:xfrm>
            <a:off x="228600" y="6502400"/>
            <a:ext cx="8890000" cy="369332"/>
          </a:xfrm>
          <a:prstGeom prst="rect">
            <a:avLst/>
          </a:prstGeom>
          <a:noFill/>
        </p:spPr>
        <p:txBody>
          <a:bodyPr vert="horz" wrap="square" lIns="0" tIns="0" rIns="0" bIns="0" rtlCol="0">
            <a:noAutofit/>
          </a:bodyPr>
          <a:lstStyle/>
          <a:p>
            <a:r>
              <a:rPr lang="en-US" sz="1050">
                <a:solidFill>
                  <a:srgbClr val="17396B"/>
                </a:solidFill>
                <a:latin typeface="Calibri" panose="020F0502020204030204" pitchFamily="34" charset="0"/>
              </a:rPr>
              <a:t>Department of Computer Science &amp; Engineering — Graphic Era (Deemed to be University)</a:t>
            </a:r>
            <a:endParaRPr lang="en-IN" sz="1050">
              <a:solidFill>
                <a:srgbClr val="17396B"/>
              </a:solidFill>
              <a:latin typeface="Calibri" panose="020F0502020204030204" pitchFamily="34" charset="0"/>
            </a:endParaRPr>
          </a:p>
        </p:txBody>
      </p:sp>
      <p:sp>
        <p:nvSpPr>
          <p:cNvPr id="7" name="TextBox 6">
            <a:extLst>
              <a:ext uri="{FF2B5EF4-FFF2-40B4-BE49-F238E27FC236}">
                <a16:creationId xmlns:a16="http://schemas.microsoft.com/office/drawing/2014/main" id="{6387E977-4AC3-126D-960B-5B64F1C984DD}"/>
              </a:ext>
            </a:extLst>
          </p:cNvPr>
          <p:cNvSpPr txBox="1"/>
          <p:nvPr/>
        </p:nvSpPr>
        <p:spPr>
          <a:xfrm>
            <a:off x="11049000" y="6502400"/>
            <a:ext cx="914400" cy="369332"/>
          </a:xfrm>
          <a:prstGeom prst="rect">
            <a:avLst/>
          </a:prstGeom>
          <a:noFill/>
        </p:spPr>
        <p:txBody>
          <a:bodyPr vert="horz" wrap="square" lIns="0" tIns="0" rIns="0" bIns="0" rtlCol="0">
            <a:noAutofit/>
          </a:bodyPr>
          <a:lstStyle/>
          <a:p>
            <a:pPr algn="r"/>
            <a:r>
              <a:rPr lang="en-IN" sz="1050">
                <a:solidFill>
                  <a:srgbClr val="1B1B1B"/>
                </a:solidFill>
                <a:latin typeface="Calibri" panose="020F0502020204030204" pitchFamily="34" charset="0"/>
              </a:rPr>
              <a:t>5/10</a:t>
            </a:r>
          </a:p>
        </p:txBody>
      </p:sp>
      <p:sp>
        <p:nvSpPr>
          <p:cNvPr id="8" name="TextBox 7">
            <a:extLst>
              <a:ext uri="{FF2B5EF4-FFF2-40B4-BE49-F238E27FC236}">
                <a16:creationId xmlns:a16="http://schemas.microsoft.com/office/drawing/2014/main" id="{4558D2E4-ADFE-42C5-1B89-CDB884B7F8A8}"/>
              </a:ext>
            </a:extLst>
          </p:cNvPr>
          <p:cNvSpPr txBox="1"/>
          <p:nvPr/>
        </p:nvSpPr>
        <p:spPr>
          <a:xfrm>
            <a:off x="698500" y="1574800"/>
            <a:ext cx="5334000" cy="369332"/>
          </a:xfrm>
          <a:prstGeom prst="rect">
            <a:avLst/>
          </a:prstGeom>
          <a:noFill/>
        </p:spPr>
        <p:txBody>
          <a:bodyPr vert="horz" wrap="square" lIns="0" tIns="0" rIns="0" bIns="0" rtlCol="0">
            <a:noAutofit/>
          </a:bodyPr>
          <a:lstStyle/>
          <a:p>
            <a:r>
              <a:rPr lang="en-IN" sz="2000" b="1">
                <a:solidFill>
                  <a:srgbClr val="17396B"/>
                </a:solidFill>
                <a:latin typeface="Calibri" panose="020F0502020204030204" pitchFamily="34" charset="0"/>
              </a:rPr>
              <a:t>Approach (implemented)</a:t>
            </a:r>
          </a:p>
        </p:txBody>
      </p:sp>
      <p:sp>
        <p:nvSpPr>
          <p:cNvPr id="9" name="TextBox 8">
            <a:extLst>
              <a:ext uri="{FF2B5EF4-FFF2-40B4-BE49-F238E27FC236}">
                <a16:creationId xmlns:a16="http://schemas.microsoft.com/office/drawing/2014/main" id="{608B8C99-5F63-59FB-CEB2-667C3AF070B3}"/>
              </a:ext>
            </a:extLst>
          </p:cNvPr>
          <p:cNvSpPr txBox="1"/>
          <p:nvPr/>
        </p:nvSpPr>
        <p:spPr>
          <a:xfrm>
            <a:off x="698500" y="2032000"/>
            <a:ext cx="5334000" cy="369332"/>
          </a:xfrm>
          <a:prstGeom prst="rect">
            <a:avLst/>
          </a:prstGeom>
          <a:noFill/>
        </p:spPr>
        <p:txBody>
          <a:bodyPr vert="horz" wrap="square" lIns="0" tIns="0" rIns="0" bIns="0" rtlCol="0">
            <a:noAutofit/>
          </a:bodyPr>
          <a:lstStyle/>
          <a:p>
            <a:pPr marL="279400" indent="-279400">
              <a:spcAft>
                <a:spcPts val="600"/>
              </a:spcAft>
              <a:buClr>
                <a:srgbClr val="17396B"/>
              </a:buClr>
              <a:buFont typeface="+mj-lt"/>
              <a:buAutoNum type="arabicPeriod"/>
            </a:pPr>
            <a:r>
              <a:rPr lang="en-IN" sz="1600">
                <a:solidFill>
                  <a:srgbClr val="1B1B1B"/>
                </a:solidFill>
                <a:latin typeface="Calibri" panose="020F0502020204030204" pitchFamily="34" charset="0"/>
              </a:rPr>
              <a:t>Input: structured lost / found report forms</a:t>
            </a:r>
          </a:p>
          <a:p>
            <a:pPr marL="279400" indent="-279400">
              <a:spcAft>
                <a:spcPts val="600"/>
              </a:spcAft>
              <a:buClr>
                <a:srgbClr val="17396B"/>
              </a:buClr>
              <a:buFont typeface="+mj-lt"/>
              <a:buAutoNum type="arabicPeriod"/>
            </a:pPr>
            <a:r>
              <a:rPr lang="en-IN" sz="1600">
                <a:solidFill>
                  <a:srgbClr val="1B1B1B"/>
                </a:solidFill>
                <a:latin typeface="Calibri" panose="020F0502020204030204" pitchFamily="34" charset="0"/>
              </a:rPr>
              <a:t>Core algorithm: rule-based match score (0–100)</a:t>
            </a:r>
          </a:p>
          <a:p>
            <a:pPr marL="279400" indent="-279400">
              <a:spcAft>
                <a:spcPts val="600"/>
              </a:spcAft>
              <a:buClr>
                <a:srgbClr val="17396B"/>
              </a:buClr>
              <a:buFont typeface="+mj-lt"/>
              <a:buAutoNum type="arabicPeriod"/>
            </a:pPr>
            <a:r>
              <a:rPr lang="en-IN" sz="1600">
                <a:solidFill>
                  <a:srgbClr val="1B1B1B"/>
                </a:solidFill>
                <a:latin typeface="Calibri" panose="020F0502020204030204" pitchFamily="34" charset="0"/>
              </a:rPr>
              <a:t>System logic: validation, sessions, owner-only status</a:t>
            </a:r>
          </a:p>
          <a:p>
            <a:pPr marL="279400" indent="-279400">
              <a:spcAft>
                <a:spcPts val="600"/>
              </a:spcAft>
              <a:buClr>
                <a:srgbClr val="17396B"/>
              </a:buClr>
              <a:buFont typeface="+mj-lt"/>
              <a:buAutoNum type="arabicPeriod"/>
            </a:pPr>
            <a:r>
              <a:rPr lang="en-IN" sz="1600">
                <a:solidFill>
                  <a:srgbClr val="1B1B1B"/>
                </a:solidFill>
                <a:latin typeface="Calibri" panose="020F0502020204030204" pitchFamily="34" charset="0"/>
              </a:rPr>
              <a:t>Storage: MariaDB via JDBC; photos via Java I/O</a:t>
            </a:r>
          </a:p>
          <a:p>
            <a:pPr marL="279400" indent="-279400">
              <a:spcAft>
                <a:spcPts val="600"/>
              </a:spcAft>
              <a:buClr>
                <a:srgbClr val="17396B"/>
              </a:buClr>
              <a:buFont typeface="+mj-lt"/>
              <a:buAutoNum type="arabicPeriod"/>
            </a:pPr>
            <a:r>
              <a:rPr lang="en-IN" sz="1600">
                <a:solidFill>
                  <a:srgbClr val="1B1B1B"/>
                </a:solidFill>
                <a:latin typeface="Calibri" panose="020F0502020204030204" pitchFamily="34" charset="0"/>
              </a:rPr>
              <a:t>Output: dashboard, browse, match breakdown</a:t>
            </a:r>
          </a:p>
        </p:txBody>
      </p:sp>
      <p:sp>
        <p:nvSpPr>
          <p:cNvPr id="10" name="TextBox 9">
            <a:extLst>
              <a:ext uri="{FF2B5EF4-FFF2-40B4-BE49-F238E27FC236}">
                <a16:creationId xmlns:a16="http://schemas.microsoft.com/office/drawing/2014/main" id="{3EBA9F4B-64E0-0F32-C32A-17053403B580}"/>
              </a:ext>
            </a:extLst>
          </p:cNvPr>
          <p:cNvSpPr txBox="1"/>
          <p:nvPr/>
        </p:nvSpPr>
        <p:spPr>
          <a:xfrm>
            <a:off x="6350000" y="1574800"/>
            <a:ext cx="5334000" cy="369332"/>
          </a:xfrm>
          <a:prstGeom prst="rect">
            <a:avLst/>
          </a:prstGeom>
          <a:noFill/>
        </p:spPr>
        <p:txBody>
          <a:bodyPr vert="horz" wrap="square" lIns="0" tIns="0" rIns="0" bIns="0" rtlCol="0">
            <a:noAutofit/>
          </a:bodyPr>
          <a:lstStyle/>
          <a:p>
            <a:r>
              <a:rPr lang="en-IN" sz="2000" b="1">
                <a:solidFill>
                  <a:srgbClr val="17396B"/>
                </a:solidFill>
                <a:latin typeface="Calibri" panose="020F0502020204030204" pitchFamily="34" charset="0"/>
              </a:rPr>
              <a:t>Key Features</a:t>
            </a:r>
          </a:p>
        </p:txBody>
      </p:sp>
      <p:sp>
        <p:nvSpPr>
          <p:cNvPr id="11" name="TextBox 10">
            <a:extLst>
              <a:ext uri="{FF2B5EF4-FFF2-40B4-BE49-F238E27FC236}">
                <a16:creationId xmlns:a16="http://schemas.microsoft.com/office/drawing/2014/main" id="{3260E2E0-5B09-0F1A-7517-A99AB1F1DB17}"/>
              </a:ext>
            </a:extLst>
          </p:cNvPr>
          <p:cNvSpPr txBox="1"/>
          <p:nvPr/>
        </p:nvSpPr>
        <p:spPr>
          <a:xfrm>
            <a:off x="6350000" y="2032000"/>
            <a:ext cx="5207000" cy="369332"/>
          </a:xfrm>
          <a:prstGeom prst="rect">
            <a:avLst/>
          </a:prstGeom>
          <a:noFill/>
        </p:spPr>
        <p:txBody>
          <a:bodyPr vert="horz" wrap="square" lIns="0" tIns="0" rIns="0" bIns="0" rtlCol="0">
            <a:noAutofit/>
          </a:bodyPr>
          <a:lstStyle/>
          <a:p>
            <a:pPr marL="279400" indent="-279400">
              <a:spcAft>
                <a:spcPts val="600"/>
              </a:spcAft>
              <a:buClr>
                <a:srgbClr val="1D7A46"/>
              </a:buClr>
              <a:buSzPct val="75000"/>
              <a:buFont typeface="+mj-lt"/>
              <a:buChar char="▶"/>
            </a:pPr>
            <a:r>
              <a:rPr lang="en-US" sz="1600">
                <a:solidFill>
                  <a:srgbClr val="1B1B1B"/>
                </a:solidFill>
                <a:latin typeface="Calibri" panose="020F0502020204030204" pitchFamily="34" charset="0"/>
              </a:rPr>
              <a:t>Registration, login, sessions, profile</a:t>
            </a:r>
          </a:p>
          <a:p>
            <a:pPr marL="279400" indent="-279400">
              <a:spcAft>
                <a:spcPts val="600"/>
              </a:spcAft>
              <a:buClr>
                <a:srgbClr val="1D7A46"/>
              </a:buClr>
              <a:buSzPct val="75000"/>
              <a:buFont typeface="+mj-lt"/>
              <a:buChar char="▶"/>
            </a:pPr>
            <a:r>
              <a:rPr lang="en-US" sz="1600">
                <a:solidFill>
                  <a:srgbClr val="1B1B1B"/>
                </a:solidFill>
                <a:latin typeface="Calibri" panose="020F0502020204030204" pitchFamily="34" charset="0"/>
              </a:rPr>
              <a:t>Report lost / found item with photo</a:t>
            </a:r>
          </a:p>
          <a:p>
            <a:pPr marL="279400" indent="-279400">
              <a:spcAft>
                <a:spcPts val="600"/>
              </a:spcAft>
              <a:buClr>
                <a:srgbClr val="1D7A46"/>
              </a:buClr>
              <a:buSzPct val="75000"/>
              <a:buFont typeface="+mj-lt"/>
              <a:buChar char="▶"/>
            </a:pPr>
            <a:r>
              <a:rPr lang="en-US" sz="1600">
                <a:solidFill>
                  <a:srgbClr val="1B1B1B"/>
                </a:solidFill>
                <a:latin typeface="Calibri" panose="020F0502020204030204" pitchFamily="34" charset="0"/>
              </a:rPr>
              <a:t>My Reports with Open / Resolved / Closed</a:t>
            </a:r>
          </a:p>
          <a:p>
            <a:pPr marL="279400" indent="-279400">
              <a:spcAft>
                <a:spcPts val="600"/>
              </a:spcAft>
              <a:buClr>
                <a:srgbClr val="1D7A46"/>
              </a:buClr>
              <a:buSzPct val="75000"/>
              <a:buFont typeface="+mj-lt"/>
              <a:buChar char="▶"/>
            </a:pPr>
            <a:r>
              <a:rPr lang="en-US" sz="1600">
                <a:solidFill>
                  <a:srgbClr val="1B1B1B"/>
                </a:solidFill>
                <a:latin typeface="Calibri" panose="020F0502020204030204" pitchFamily="34" charset="0"/>
              </a:rPr>
              <a:t>Browse, search and filters</a:t>
            </a:r>
          </a:p>
          <a:p>
            <a:pPr marL="279400" indent="-279400">
              <a:spcAft>
                <a:spcPts val="600"/>
              </a:spcAft>
              <a:buClr>
                <a:srgbClr val="1D7A46"/>
              </a:buClr>
              <a:buSzPct val="75000"/>
              <a:buFont typeface="+mj-lt"/>
              <a:buChar char="▶"/>
            </a:pPr>
            <a:r>
              <a:rPr lang="en-US" sz="1600">
                <a:solidFill>
                  <a:srgbClr val="1B1B1B"/>
                </a:solidFill>
                <a:latin typeface="Calibri" panose="020F0502020204030204" pitchFamily="34" charset="0"/>
              </a:rPr>
              <a:t>Matching with score breakdown</a:t>
            </a:r>
            <a:endParaRPr lang="en-IN" sz="1600">
              <a:solidFill>
                <a:srgbClr val="1B1B1B"/>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4392661C-DAA4-1DB3-4950-EBD8877A81F3}"/>
              </a:ext>
            </a:extLst>
          </p:cNvPr>
          <p:cNvSpPr/>
          <p:nvPr/>
        </p:nvSpPr>
        <p:spPr>
          <a:xfrm>
            <a:off x="6350000" y="4318000"/>
            <a:ext cx="1016000" cy="254000"/>
          </a:xfrm>
          <a:prstGeom prst="roundRect">
            <a:avLst>
              <a:gd name="adj" fmla="val 50000"/>
            </a:avLst>
          </a:prstGeom>
          <a:solidFill>
            <a:srgbClr val="FDF1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IN" sz="1100" b="1">
                <a:solidFill>
                  <a:srgbClr val="8A5A00"/>
                </a:solidFill>
                <a:latin typeface="Calibri" panose="020F0502020204030204" pitchFamily="34" charset="0"/>
              </a:rPr>
              <a:t>Planned</a:t>
            </a:r>
          </a:p>
        </p:txBody>
      </p:sp>
      <p:sp>
        <p:nvSpPr>
          <p:cNvPr id="13" name="TextBox 12">
            <a:extLst>
              <a:ext uri="{FF2B5EF4-FFF2-40B4-BE49-F238E27FC236}">
                <a16:creationId xmlns:a16="http://schemas.microsoft.com/office/drawing/2014/main" id="{37DC909C-09C8-A9F7-C957-FDFAF85F5750}"/>
              </a:ext>
            </a:extLst>
          </p:cNvPr>
          <p:cNvSpPr txBox="1"/>
          <p:nvPr/>
        </p:nvSpPr>
        <p:spPr>
          <a:xfrm>
            <a:off x="7493000" y="4330700"/>
            <a:ext cx="4191000" cy="369332"/>
          </a:xfrm>
          <a:prstGeom prst="rect">
            <a:avLst/>
          </a:prstGeom>
          <a:noFill/>
        </p:spPr>
        <p:txBody>
          <a:bodyPr vert="horz" wrap="square" lIns="0" tIns="0" rIns="0" bIns="0" rtlCol="0">
            <a:noAutofit/>
          </a:bodyPr>
          <a:lstStyle/>
          <a:p>
            <a:r>
              <a:rPr lang="en-US" sz="1300">
                <a:solidFill>
                  <a:srgbClr val="1B1B1B"/>
                </a:solidFill>
                <a:latin typeface="Calibri" panose="020F0502020204030204" pitchFamily="34" charset="0"/>
              </a:rPr>
              <a:t>Claims &amp; ownership verification, notifications, admin dashboard, deployment</a:t>
            </a:r>
            <a:endParaRPr lang="en-IN" sz="1300">
              <a:solidFill>
                <a:srgbClr val="1B1B1B"/>
              </a:solidFill>
              <a:latin typeface="Calibri" panose="020F0502020204030204" pitchFamily="34" charset="0"/>
            </a:endParaRPr>
          </a:p>
        </p:txBody>
      </p:sp>
      <p:sp>
        <p:nvSpPr>
          <p:cNvPr id="14" name="TextBox 13">
            <a:extLst>
              <a:ext uri="{FF2B5EF4-FFF2-40B4-BE49-F238E27FC236}">
                <a16:creationId xmlns:a16="http://schemas.microsoft.com/office/drawing/2014/main" id="{5F56EB37-47A2-1E58-56AA-55F5FE6E6C9B}"/>
              </a:ext>
            </a:extLst>
          </p:cNvPr>
          <p:cNvSpPr txBox="1"/>
          <p:nvPr/>
        </p:nvSpPr>
        <p:spPr>
          <a:xfrm>
            <a:off x="698500" y="5486400"/>
            <a:ext cx="10795000" cy="369332"/>
          </a:xfrm>
          <a:prstGeom prst="rect">
            <a:avLst/>
          </a:prstGeom>
          <a:noFill/>
        </p:spPr>
        <p:txBody>
          <a:bodyPr vert="horz" wrap="square" lIns="0" tIns="0" rIns="0" bIns="0" rtlCol="0">
            <a:noAutofit/>
          </a:bodyPr>
          <a:lstStyle/>
          <a:p>
            <a:r>
              <a:rPr lang="en-US" sz="1400">
                <a:solidFill>
                  <a:srgbClr val="595959"/>
                </a:solidFill>
                <a:latin typeface="Calibri" panose="020F0502020204030204" pitchFamily="34" charset="0"/>
              </a:rPr>
              <a:t>Score = category 25 + location 25 + colour 20 + date 15 + description similarity 15. Pairs scoring 40 or more are shown as potential matches. It is deterministic and rule-based, not AI/ML.</a:t>
            </a:r>
            <a:endParaRPr lang="en-IN" sz="1400">
              <a:solidFill>
                <a:srgbClr val="595959"/>
              </a:solidFill>
              <a:latin typeface="Calibri" panose="020F0502020204030204" pitchFamily="34" charset="0"/>
            </a:endParaRPr>
          </a:p>
        </p:txBody>
      </p:sp>
    </p:spTree>
    <p:extLst>
      <p:ext uri="{BB962C8B-B14F-4D97-AF65-F5344CB8AC3E}">
        <p14:creationId xmlns:p14="http://schemas.microsoft.com/office/powerpoint/2010/main" val="1034067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041A25-A894-E5AC-6AEC-97F49FE6991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41100" y="177800"/>
            <a:ext cx="584200" cy="584200"/>
          </a:xfrm>
          <a:prstGeom prst="rect">
            <a:avLst/>
          </a:prstGeom>
        </p:spPr>
      </p:pic>
      <p:sp>
        <p:nvSpPr>
          <p:cNvPr id="4" name="Title">
            <a:extLst>
              <a:ext uri="{FF2B5EF4-FFF2-40B4-BE49-F238E27FC236}">
                <a16:creationId xmlns:a16="http://schemas.microsoft.com/office/drawing/2014/main" id="{A8467890-137D-CA85-D83E-2115F4BE8B7A}"/>
              </a:ext>
            </a:extLst>
          </p:cNvPr>
          <p:cNvSpPr txBox="1"/>
          <p:nvPr/>
        </p:nvSpPr>
        <p:spPr>
          <a:xfrm>
            <a:off x="698500" y="482600"/>
            <a:ext cx="10414000" cy="369332"/>
          </a:xfrm>
          <a:prstGeom prst="rect">
            <a:avLst/>
          </a:prstGeom>
          <a:noFill/>
        </p:spPr>
        <p:txBody>
          <a:bodyPr vert="horz" wrap="square" lIns="0" tIns="0" rIns="0" bIns="0" rtlCol="0">
            <a:noAutofit/>
          </a:bodyPr>
          <a:lstStyle/>
          <a:p>
            <a:r>
              <a:rPr lang="en-US" sz="3000" b="1">
                <a:solidFill>
                  <a:srgbClr val="17396B"/>
                </a:solidFill>
                <a:latin typeface="Calibri" panose="020F0502020204030204" pitchFamily="34" charset="0"/>
              </a:rPr>
              <a:t>Integration of PBL Course Concepts</a:t>
            </a:r>
            <a:endParaRPr lang="en-IN" sz="3000" b="1">
              <a:solidFill>
                <a:srgbClr val="17396B"/>
              </a:solidFill>
              <a:latin typeface="Calibri" panose="020F0502020204030204" pitchFamily="34" charset="0"/>
            </a:endParaRPr>
          </a:p>
        </p:txBody>
      </p:sp>
      <p:cxnSp>
        <p:nvCxnSpPr>
          <p:cNvPr id="5" name="Straight Connector 4">
            <a:extLst>
              <a:ext uri="{FF2B5EF4-FFF2-40B4-BE49-F238E27FC236}">
                <a16:creationId xmlns:a16="http://schemas.microsoft.com/office/drawing/2014/main" id="{89BEC332-AB61-B126-D95D-CDD8B24C0D19}"/>
              </a:ext>
            </a:extLst>
          </p:cNvPr>
          <p:cNvCxnSpPr/>
          <p:nvPr/>
        </p:nvCxnSpPr>
        <p:spPr>
          <a:xfrm>
            <a:off x="698500" y="1320800"/>
            <a:ext cx="10795000" cy="0"/>
          </a:xfrm>
          <a:prstGeom prst="line">
            <a:avLst/>
          </a:prstGeom>
          <a:ln w="22225">
            <a:solidFill>
              <a:srgbClr val="17396B"/>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1A9CF32-D9B4-1C9B-4D49-67DE8B9885A8}"/>
              </a:ext>
            </a:extLst>
          </p:cNvPr>
          <p:cNvSpPr txBox="1"/>
          <p:nvPr/>
        </p:nvSpPr>
        <p:spPr>
          <a:xfrm>
            <a:off x="228600" y="6502400"/>
            <a:ext cx="8890000" cy="369332"/>
          </a:xfrm>
          <a:prstGeom prst="rect">
            <a:avLst/>
          </a:prstGeom>
          <a:noFill/>
        </p:spPr>
        <p:txBody>
          <a:bodyPr vert="horz" wrap="square" lIns="0" tIns="0" rIns="0" bIns="0" rtlCol="0">
            <a:noAutofit/>
          </a:bodyPr>
          <a:lstStyle/>
          <a:p>
            <a:r>
              <a:rPr lang="en-US" sz="1050">
                <a:solidFill>
                  <a:srgbClr val="17396B"/>
                </a:solidFill>
                <a:latin typeface="Calibri" panose="020F0502020204030204" pitchFamily="34" charset="0"/>
              </a:rPr>
              <a:t>Department of Computer Science &amp; Engineering — Graphic Era (Deemed to be University)</a:t>
            </a:r>
            <a:endParaRPr lang="en-IN" sz="1050">
              <a:solidFill>
                <a:srgbClr val="17396B"/>
              </a:solidFill>
              <a:latin typeface="Calibri" panose="020F0502020204030204" pitchFamily="34" charset="0"/>
            </a:endParaRPr>
          </a:p>
        </p:txBody>
      </p:sp>
      <p:sp>
        <p:nvSpPr>
          <p:cNvPr id="7" name="TextBox 6">
            <a:extLst>
              <a:ext uri="{FF2B5EF4-FFF2-40B4-BE49-F238E27FC236}">
                <a16:creationId xmlns:a16="http://schemas.microsoft.com/office/drawing/2014/main" id="{18922576-EEFD-84C1-37C2-241F54DEFF7A}"/>
              </a:ext>
            </a:extLst>
          </p:cNvPr>
          <p:cNvSpPr txBox="1"/>
          <p:nvPr/>
        </p:nvSpPr>
        <p:spPr>
          <a:xfrm>
            <a:off x="11049000" y="6502400"/>
            <a:ext cx="914400" cy="369332"/>
          </a:xfrm>
          <a:prstGeom prst="rect">
            <a:avLst/>
          </a:prstGeom>
          <a:noFill/>
        </p:spPr>
        <p:txBody>
          <a:bodyPr vert="horz" wrap="square" lIns="0" tIns="0" rIns="0" bIns="0" rtlCol="0">
            <a:noAutofit/>
          </a:bodyPr>
          <a:lstStyle/>
          <a:p>
            <a:pPr algn="r"/>
            <a:r>
              <a:rPr lang="en-IN" sz="1050">
                <a:solidFill>
                  <a:srgbClr val="1B1B1B"/>
                </a:solidFill>
                <a:latin typeface="Calibri" panose="020F0502020204030204" pitchFamily="34" charset="0"/>
              </a:rPr>
              <a:t>6/10</a:t>
            </a:r>
          </a:p>
        </p:txBody>
      </p:sp>
      <p:cxnSp>
        <p:nvCxnSpPr>
          <p:cNvPr id="8" name="Straight Connector 7">
            <a:extLst>
              <a:ext uri="{FF2B5EF4-FFF2-40B4-BE49-F238E27FC236}">
                <a16:creationId xmlns:a16="http://schemas.microsoft.com/office/drawing/2014/main" id="{AF562309-3751-2326-ECC7-C7CB33800A06}"/>
              </a:ext>
            </a:extLst>
          </p:cNvPr>
          <p:cNvCxnSpPr/>
          <p:nvPr/>
        </p:nvCxnSpPr>
        <p:spPr>
          <a:xfrm>
            <a:off x="889000" y="1778000"/>
            <a:ext cx="10414000" cy="0"/>
          </a:xfrm>
          <a:prstGeom prst="line">
            <a:avLst/>
          </a:prstGeom>
          <a:ln w="22225">
            <a:solidFill>
              <a:srgbClr val="1B1B1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A6A13AB-F485-E7CE-DD39-7CD0347385ED}"/>
              </a:ext>
            </a:extLst>
          </p:cNvPr>
          <p:cNvSpPr txBox="1"/>
          <p:nvPr/>
        </p:nvSpPr>
        <p:spPr>
          <a:xfrm>
            <a:off x="889000" y="1905000"/>
            <a:ext cx="2794000" cy="369332"/>
          </a:xfrm>
          <a:prstGeom prst="rect">
            <a:avLst/>
          </a:prstGeom>
          <a:noFill/>
        </p:spPr>
        <p:txBody>
          <a:bodyPr vert="horz" wrap="square" lIns="0" tIns="0" rIns="0" bIns="0" rtlCol="0">
            <a:noAutofit/>
          </a:bodyPr>
          <a:lstStyle/>
          <a:p>
            <a:r>
              <a:rPr lang="en-IN" sz="1600" b="1">
                <a:solidFill>
                  <a:srgbClr val="1B1B1B"/>
                </a:solidFill>
                <a:latin typeface="Calibri" panose="020F0502020204030204" pitchFamily="34" charset="0"/>
              </a:rPr>
              <a:t>Course</a:t>
            </a:r>
          </a:p>
        </p:txBody>
      </p:sp>
      <p:sp>
        <p:nvSpPr>
          <p:cNvPr id="10" name="TextBox 9">
            <a:extLst>
              <a:ext uri="{FF2B5EF4-FFF2-40B4-BE49-F238E27FC236}">
                <a16:creationId xmlns:a16="http://schemas.microsoft.com/office/drawing/2014/main" id="{6D070440-FEBB-7C03-F968-686EF97FA03A}"/>
              </a:ext>
            </a:extLst>
          </p:cNvPr>
          <p:cNvSpPr txBox="1"/>
          <p:nvPr/>
        </p:nvSpPr>
        <p:spPr>
          <a:xfrm>
            <a:off x="3810000" y="1905000"/>
            <a:ext cx="5588000" cy="369332"/>
          </a:xfrm>
          <a:prstGeom prst="rect">
            <a:avLst/>
          </a:prstGeom>
          <a:noFill/>
        </p:spPr>
        <p:txBody>
          <a:bodyPr vert="horz" wrap="square" lIns="0" tIns="0" rIns="0" bIns="0" rtlCol="0">
            <a:noAutofit/>
          </a:bodyPr>
          <a:lstStyle/>
          <a:p>
            <a:r>
              <a:rPr lang="en-IN" sz="1600">
                <a:solidFill>
                  <a:srgbClr val="1B1B1B"/>
                </a:solidFill>
                <a:latin typeface="Calibri" panose="020F0502020204030204" pitchFamily="34" charset="0"/>
              </a:rPr>
              <a:t>Concepts Applied</a:t>
            </a:r>
          </a:p>
        </p:txBody>
      </p:sp>
      <p:sp>
        <p:nvSpPr>
          <p:cNvPr id="11" name="TextBox 10">
            <a:extLst>
              <a:ext uri="{FF2B5EF4-FFF2-40B4-BE49-F238E27FC236}">
                <a16:creationId xmlns:a16="http://schemas.microsoft.com/office/drawing/2014/main" id="{197718DC-99DD-B9B4-8F9D-92D2ECF9BDDC}"/>
              </a:ext>
            </a:extLst>
          </p:cNvPr>
          <p:cNvSpPr txBox="1"/>
          <p:nvPr/>
        </p:nvSpPr>
        <p:spPr>
          <a:xfrm>
            <a:off x="9652000" y="1905000"/>
            <a:ext cx="1651000" cy="369332"/>
          </a:xfrm>
          <a:prstGeom prst="rect">
            <a:avLst/>
          </a:prstGeom>
          <a:noFill/>
        </p:spPr>
        <p:txBody>
          <a:bodyPr vert="horz" wrap="square" lIns="0" tIns="0" rIns="0" bIns="0" rtlCol="0">
            <a:noAutofit/>
          </a:bodyPr>
          <a:lstStyle/>
          <a:p>
            <a:r>
              <a:rPr lang="en-IN" sz="1600">
                <a:solidFill>
                  <a:srgbClr val="1B1B1B"/>
                </a:solidFill>
                <a:latin typeface="Calibri" panose="020F0502020204030204" pitchFamily="34" charset="0"/>
              </a:rPr>
              <a:t>Project Module</a:t>
            </a:r>
          </a:p>
        </p:txBody>
      </p:sp>
      <p:cxnSp>
        <p:nvCxnSpPr>
          <p:cNvPr id="12" name="Straight Connector 11">
            <a:extLst>
              <a:ext uri="{FF2B5EF4-FFF2-40B4-BE49-F238E27FC236}">
                <a16:creationId xmlns:a16="http://schemas.microsoft.com/office/drawing/2014/main" id="{BAEB8163-9611-F81B-D212-5F4156EB4EE3}"/>
              </a:ext>
            </a:extLst>
          </p:cNvPr>
          <p:cNvCxnSpPr/>
          <p:nvPr/>
        </p:nvCxnSpPr>
        <p:spPr>
          <a:xfrm>
            <a:off x="889000" y="2286000"/>
            <a:ext cx="10414000" cy="0"/>
          </a:xfrm>
          <a:prstGeom prst="line">
            <a:avLst/>
          </a:prstGeom>
          <a:ln w="9525">
            <a:solidFill>
              <a:srgbClr val="1B1B1B"/>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E2810EF-B499-690F-4440-AAD1FAB94B58}"/>
              </a:ext>
            </a:extLst>
          </p:cNvPr>
          <p:cNvSpPr txBox="1"/>
          <p:nvPr/>
        </p:nvSpPr>
        <p:spPr>
          <a:xfrm>
            <a:off x="889000" y="2438400"/>
            <a:ext cx="2794000" cy="369332"/>
          </a:xfrm>
          <a:prstGeom prst="rect">
            <a:avLst/>
          </a:prstGeom>
          <a:noFill/>
        </p:spPr>
        <p:txBody>
          <a:bodyPr vert="horz" wrap="square" lIns="0" tIns="0" rIns="0" bIns="0" rtlCol="0">
            <a:noAutofit/>
          </a:bodyPr>
          <a:lstStyle/>
          <a:p>
            <a:r>
              <a:rPr lang="en-US" sz="1500" b="1">
                <a:solidFill>
                  <a:srgbClr val="B42318"/>
                </a:solidFill>
                <a:latin typeface="Calibri" panose="020F0502020204030204" pitchFamily="34" charset="0"/>
              </a:rPr>
              <a:t>[PBL SUBJECT 1 – TO BE FILLED]</a:t>
            </a:r>
            <a:endParaRPr lang="en-IN" sz="1500" b="1">
              <a:solidFill>
                <a:srgbClr val="B42318"/>
              </a:solidFill>
              <a:latin typeface="Calibri" panose="020F0502020204030204" pitchFamily="34" charset="0"/>
            </a:endParaRPr>
          </a:p>
        </p:txBody>
      </p:sp>
      <p:sp>
        <p:nvSpPr>
          <p:cNvPr id="14" name="TextBox 13">
            <a:extLst>
              <a:ext uri="{FF2B5EF4-FFF2-40B4-BE49-F238E27FC236}">
                <a16:creationId xmlns:a16="http://schemas.microsoft.com/office/drawing/2014/main" id="{C187C9EB-65CB-F847-95C9-1269CD718840}"/>
              </a:ext>
            </a:extLst>
          </p:cNvPr>
          <p:cNvSpPr txBox="1"/>
          <p:nvPr/>
        </p:nvSpPr>
        <p:spPr>
          <a:xfrm>
            <a:off x="889000" y="2997200"/>
            <a:ext cx="2794000" cy="369332"/>
          </a:xfrm>
          <a:prstGeom prst="rect">
            <a:avLst/>
          </a:prstGeom>
          <a:noFill/>
        </p:spPr>
        <p:txBody>
          <a:bodyPr vert="horz" wrap="square" lIns="0" tIns="0" rIns="0" bIns="0" rtlCol="0">
            <a:noAutofit/>
          </a:bodyPr>
          <a:lstStyle/>
          <a:p>
            <a:r>
              <a:rPr lang="en-IN" sz="1200" i="1">
                <a:solidFill>
                  <a:srgbClr val="6B7280"/>
                </a:solidFill>
                <a:latin typeface="Calibri" panose="020F0502020204030204" pitchFamily="34" charset="0"/>
              </a:rPr>
              <a:t>Java OOP &amp; web programming</a:t>
            </a:r>
          </a:p>
        </p:txBody>
      </p:sp>
      <p:sp>
        <p:nvSpPr>
          <p:cNvPr id="15" name="TextBox 14">
            <a:extLst>
              <a:ext uri="{FF2B5EF4-FFF2-40B4-BE49-F238E27FC236}">
                <a16:creationId xmlns:a16="http://schemas.microsoft.com/office/drawing/2014/main" id="{02A3D002-4E08-FF61-6610-81A81439A52F}"/>
              </a:ext>
            </a:extLst>
          </p:cNvPr>
          <p:cNvSpPr txBox="1"/>
          <p:nvPr/>
        </p:nvSpPr>
        <p:spPr>
          <a:xfrm>
            <a:off x="3810000" y="2438400"/>
            <a:ext cx="5715000" cy="369332"/>
          </a:xfrm>
          <a:prstGeom prst="rect">
            <a:avLst/>
          </a:prstGeom>
          <a:noFill/>
        </p:spPr>
        <p:txBody>
          <a:bodyPr vert="horz" wrap="square" lIns="0" tIns="0" rIns="0" bIns="0" rtlCol="0">
            <a:noAutofit/>
          </a:bodyPr>
          <a:lstStyle/>
          <a:p>
            <a:r>
              <a:rPr lang="en-IN" sz="1500" i="1">
                <a:solidFill>
                  <a:srgbClr val="1B1B1B"/>
                </a:solidFill>
                <a:latin typeface="Calibri" panose="020F0502020204030204" pitchFamily="34" charset="0"/>
              </a:rPr>
              <a:t>Classes &amp; encapsulation (JavaBeans), inheritance &amp; polymorphism (Servlets, filters), sessions &amp; cookies, exception handling, Java I/O, collections</a:t>
            </a:r>
          </a:p>
        </p:txBody>
      </p:sp>
      <p:sp>
        <p:nvSpPr>
          <p:cNvPr id="16" name="TextBox 15">
            <a:extLst>
              <a:ext uri="{FF2B5EF4-FFF2-40B4-BE49-F238E27FC236}">
                <a16:creationId xmlns:a16="http://schemas.microsoft.com/office/drawing/2014/main" id="{10D5CA52-D455-80B6-B7AB-669300D33FE7}"/>
              </a:ext>
            </a:extLst>
          </p:cNvPr>
          <p:cNvSpPr txBox="1"/>
          <p:nvPr/>
        </p:nvSpPr>
        <p:spPr>
          <a:xfrm>
            <a:off x="9652000" y="2438400"/>
            <a:ext cx="1651000" cy="369332"/>
          </a:xfrm>
          <a:prstGeom prst="rect">
            <a:avLst/>
          </a:prstGeom>
          <a:noFill/>
        </p:spPr>
        <p:txBody>
          <a:bodyPr vert="horz" wrap="square" lIns="0" tIns="0" rIns="0" bIns="0" rtlCol="0">
            <a:noAutofit/>
          </a:bodyPr>
          <a:lstStyle/>
          <a:p>
            <a:r>
              <a:rPr lang="en-IN" sz="1500" i="1">
                <a:solidFill>
                  <a:srgbClr val="1B1B1B"/>
                </a:solidFill>
                <a:latin typeface="Calibri" panose="020F0502020204030204" pitchFamily="34" charset="0"/>
              </a:rPr>
              <a:t>Modules 1–3</a:t>
            </a:r>
          </a:p>
        </p:txBody>
      </p:sp>
      <p:cxnSp>
        <p:nvCxnSpPr>
          <p:cNvPr id="17" name="Straight Connector 16">
            <a:extLst>
              <a:ext uri="{FF2B5EF4-FFF2-40B4-BE49-F238E27FC236}">
                <a16:creationId xmlns:a16="http://schemas.microsoft.com/office/drawing/2014/main" id="{9DDDE834-A797-6F03-A904-9B84722EE299}"/>
              </a:ext>
            </a:extLst>
          </p:cNvPr>
          <p:cNvCxnSpPr/>
          <p:nvPr/>
        </p:nvCxnSpPr>
        <p:spPr>
          <a:xfrm>
            <a:off x="889000" y="3759200"/>
            <a:ext cx="10414000" cy="0"/>
          </a:xfrm>
          <a:prstGeom prst="line">
            <a:avLst/>
          </a:prstGeom>
          <a:ln w="9525">
            <a:solidFill>
              <a:srgbClr val="1B1B1B"/>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16426B1-5785-E810-6AA5-06B0D245A4EF}"/>
              </a:ext>
            </a:extLst>
          </p:cNvPr>
          <p:cNvSpPr txBox="1"/>
          <p:nvPr/>
        </p:nvSpPr>
        <p:spPr>
          <a:xfrm>
            <a:off x="889000" y="3911600"/>
            <a:ext cx="2794000" cy="369332"/>
          </a:xfrm>
          <a:prstGeom prst="rect">
            <a:avLst/>
          </a:prstGeom>
          <a:noFill/>
        </p:spPr>
        <p:txBody>
          <a:bodyPr vert="horz" wrap="square" lIns="0" tIns="0" rIns="0" bIns="0" rtlCol="0">
            <a:noAutofit/>
          </a:bodyPr>
          <a:lstStyle/>
          <a:p>
            <a:r>
              <a:rPr lang="en-US" sz="1500" b="1">
                <a:solidFill>
                  <a:srgbClr val="B42318"/>
                </a:solidFill>
                <a:latin typeface="Calibri" panose="020F0502020204030204" pitchFamily="34" charset="0"/>
              </a:rPr>
              <a:t>[PBL SUBJECT 2 – TO BE FILLED]</a:t>
            </a:r>
            <a:endParaRPr lang="en-IN" sz="1500" b="1">
              <a:solidFill>
                <a:srgbClr val="B42318"/>
              </a:solidFill>
              <a:latin typeface="Calibri" panose="020F0502020204030204" pitchFamily="34" charset="0"/>
            </a:endParaRPr>
          </a:p>
        </p:txBody>
      </p:sp>
      <p:sp>
        <p:nvSpPr>
          <p:cNvPr id="19" name="TextBox 18">
            <a:extLst>
              <a:ext uri="{FF2B5EF4-FFF2-40B4-BE49-F238E27FC236}">
                <a16:creationId xmlns:a16="http://schemas.microsoft.com/office/drawing/2014/main" id="{DB56FDCD-1E48-06CA-09AC-03AFC092CDAF}"/>
              </a:ext>
            </a:extLst>
          </p:cNvPr>
          <p:cNvSpPr txBox="1"/>
          <p:nvPr/>
        </p:nvSpPr>
        <p:spPr>
          <a:xfrm>
            <a:off x="889000" y="4470400"/>
            <a:ext cx="2794000" cy="369332"/>
          </a:xfrm>
          <a:prstGeom prst="rect">
            <a:avLst/>
          </a:prstGeom>
          <a:noFill/>
        </p:spPr>
        <p:txBody>
          <a:bodyPr vert="horz" wrap="square" lIns="0" tIns="0" rIns="0" bIns="0" rtlCol="0">
            <a:noAutofit/>
          </a:bodyPr>
          <a:lstStyle/>
          <a:p>
            <a:r>
              <a:rPr lang="en-IN" sz="1200" i="1">
                <a:solidFill>
                  <a:srgbClr val="6B7280"/>
                </a:solidFill>
                <a:latin typeface="Calibri" panose="020F0502020204030204" pitchFamily="34" charset="0"/>
              </a:rPr>
              <a:t>Database management</a:t>
            </a:r>
          </a:p>
        </p:txBody>
      </p:sp>
      <p:sp>
        <p:nvSpPr>
          <p:cNvPr id="20" name="TextBox 19">
            <a:extLst>
              <a:ext uri="{FF2B5EF4-FFF2-40B4-BE49-F238E27FC236}">
                <a16:creationId xmlns:a16="http://schemas.microsoft.com/office/drawing/2014/main" id="{293C1E0D-7159-B07A-8677-850875AA9E68}"/>
              </a:ext>
            </a:extLst>
          </p:cNvPr>
          <p:cNvSpPr txBox="1"/>
          <p:nvPr/>
        </p:nvSpPr>
        <p:spPr>
          <a:xfrm>
            <a:off x="3810000" y="3911600"/>
            <a:ext cx="5715000" cy="369332"/>
          </a:xfrm>
          <a:prstGeom prst="rect">
            <a:avLst/>
          </a:prstGeom>
          <a:noFill/>
        </p:spPr>
        <p:txBody>
          <a:bodyPr vert="horz" wrap="square" lIns="0" tIns="0" rIns="0" bIns="0" rtlCol="0">
            <a:noAutofit/>
          </a:bodyPr>
          <a:lstStyle/>
          <a:p>
            <a:r>
              <a:rPr lang="en-US" sz="1500" i="1">
                <a:solidFill>
                  <a:srgbClr val="1B1B1B"/>
                </a:solidFill>
                <a:latin typeface="Calibri" panose="020F0502020204030204" pitchFamily="34" charset="0"/>
              </a:rPr>
              <a:t>Relational tables, primary &amp; foreign keys, SQL (DDL, DML, JOIN, GROUP BY), indexing, JDBC with PreparedStatement, least-privilege DB user</a:t>
            </a:r>
            <a:endParaRPr lang="en-IN" sz="1500" i="1">
              <a:solidFill>
                <a:srgbClr val="1B1B1B"/>
              </a:solidFill>
              <a:latin typeface="Calibri" panose="020F0502020204030204" pitchFamily="34" charset="0"/>
            </a:endParaRPr>
          </a:p>
        </p:txBody>
      </p:sp>
      <p:sp>
        <p:nvSpPr>
          <p:cNvPr id="21" name="TextBox 20">
            <a:extLst>
              <a:ext uri="{FF2B5EF4-FFF2-40B4-BE49-F238E27FC236}">
                <a16:creationId xmlns:a16="http://schemas.microsoft.com/office/drawing/2014/main" id="{FFBFD727-FABD-4F5E-4B74-41AD4266BF79}"/>
              </a:ext>
            </a:extLst>
          </p:cNvPr>
          <p:cNvSpPr txBox="1"/>
          <p:nvPr/>
        </p:nvSpPr>
        <p:spPr>
          <a:xfrm>
            <a:off x="9652000" y="3911600"/>
            <a:ext cx="1651000" cy="369332"/>
          </a:xfrm>
          <a:prstGeom prst="rect">
            <a:avLst/>
          </a:prstGeom>
          <a:noFill/>
        </p:spPr>
        <p:txBody>
          <a:bodyPr vert="horz" wrap="square" lIns="0" tIns="0" rIns="0" bIns="0" rtlCol="0">
            <a:noAutofit/>
          </a:bodyPr>
          <a:lstStyle/>
          <a:p>
            <a:r>
              <a:rPr lang="en-IN" sz="1500" i="1">
                <a:solidFill>
                  <a:srgbClr val="1B1B1B"/>
                </a:solidFill>
                <a:latin typeface="Calibri" panose="020F0502020204030204" pitchFamily="34" charset="0"/>
              </a:rPr>
              <a:t>Modules 1–3</a:t>
            </a:r>
          </a:p>
        </p:txBody>
      </p:sp>
      <p:cxnSp>
        <p:nvCxnSpPr>
          <p:cNvPr id="22" name="Straight Connector 21">
            <a:extLst>
              <a:ext uri="{FF2B5EF4-FFF2-40B4-BE49-F238E27FC236}">
                <a16:creationId xmlns:a16="http://schemas.microsoft.com/office/drawing/2014/main" id="{A9430F37-2824-B4A2-63C4-AA0E42549235}"/>
              </a:ext>
            </a:extLst>
          </p:cNvPr>
          <p:cNvCxnSpPr/>
          <p:nvPr/>
        </p:nvCxnSpPr>
        <p:spPr>
          <a:xfrm>
            <a:off x="889000" y="5080000"/>
            <a:ext cx="10414000" cy="0"/>
          </a:xfrm>
          <a:prstGeom prst="line">
            <a:avLst/>
          </a:prstGeom>
          <a:ln w="22225">
            <a:solidFill>
              <a:srgbClr val="1B1B1B"/>
            </a:solidFill>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1F0E74D7-1210-EDE8-C0D1-0316F2DB0CEC}"/>
              </a:ext>
            </a:extLst>
          </p:cNvPr>
          <p:cNvSpPr/>
          <p:nvPr/>
        </p:nvSpPr>
        <p:spPr>
          <a:xfrm>
            <a:off x="2159000" y="5435600"/>
            <a:ext cx="7874000" cy="508000"/>
          </a:xfrm>
          <a:prstGeom prst="roundRect">
            <a:avLst>
              <a:gd name="adj" fmla="val 8000"/>
            </a:avLst>
          </a:prstGeom>
          <a:solidFill>
            <a:srgbClr val="EAF1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B4347DA2-5EC9-26CF-798E-38764D3AEE76}"/>
              </a:ext>
            </a:extLst>
          </p:cNvPr>
          <p:cNvSpPr txBox="1"/>
          <p:nvPr/>
        </p:nvSpPr>
        <p:spPr>
          <a:xfrm>
            <a:off x="2286000" y="5549900"/>
            <a:ext cx="7620000" cy="369332"/>
          </a:xfrm>
          <a:prstGeom prst="rect">
            <a:avLst/>
          </a:prstGeom>
          <a:noFill/>
        </p:spPr>
        <p:txBody>
          <a:bodyPr vert="horz" wrap="square" lIns="0" tIns="0" rIns="0" bIns="0" rtlCol="0">
            <a:noAutofit/>
          </a:bodyPr>
          <a:lstStyle/>
          <a:p>
            <a:pPr algn="ctr"/>
            <a:r>
              <a:rPr lang="en-US" sz="1500" b="1">
                <a:solidFill>
                  <a:srgbClr val="1B1B1B"/>
                </a:solidFill>
                <a:latin typeface="Calibri" panose="020F0502020204030204" pitchFamily="34" charset="0"/>
              </a:rPr>
              <a:t>Requirement:</a:t>
            </a:r>
            <a:r>
              <a:rPr lang="en-US" sz="1500">
                <a:solidFill>
                  <a:srgbClr val="1B1B1B"/>
                </a:solidFill>
                <a:latin typeface="Calibri" panose="020F0502020204030204" pitchFamily="34" charset="0"/>
              </a:rPr>
              <a:t> Demonstrate meaningful integration of both subjects in one project.</a:t>
            </a:r>
            <a:endParaRPr lang="en-IN" sz="1500">
              <a:solidFill>
                <a:srgbClr val="1B1B1B"/>
              </a:solidFill>
              <a:latin typeface="Calibri" panose="020F0502020204030204" pitchFamily="34" charset="0"/>
            </a:endParaRPr>
          </a:p>
        </p:txBody>
      </p:sp>
    </p:spTree>
    <p:extLst>
      <p:ext uri="{BB962C8B-B14F-4D97-AF65-F5344CB8AC3E}">
        <p14:creationId xmlns:p14="http://schemas.microsoft.com/office/powerpoint/2010/main" val="2927783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266C30-210B-024A-0E16-CA3AE2392F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41100" y="177800"/>
            <a:ext cx="584200" cy="584200"/>
          </a:xfrm>
          <a:prstGeom prst="rect">
            <a:avLst/>
          </a:prstGeom>
        </p:spPr>
      </p:pic>
      <p:sp>
        <p:nvSpPr>
          <p:cNvPr id="4" name="Title">
            <a:extLst>
              <a:ext uri="{FF2B5EF4-FFF2-40B4-BE49-F238E27FC236}">
                <a16:creationId xmlns:a16="http://schemas.microsoft.com/office/drawing/2014/main" id="{65CD6E9B-FD80-9EFD-4A10-2D6CA1B678DF}"/>
              </a:ext>
            </a:extLst>
          </p:cNvPr>
          <p:cNvSpPr txBox="1"/>
          <p:nvPr/>
        </p:nvSpPr>
        <p:spPr>
          <a:xfrm>
            <a:off x="698500" y="482600"/>
            <a:ext cx="10414000" cy="369332"/>
          </a:xfrm>
          <a:prstGeom prst="rect">
            <a:avLst/>
          </a:prstGeom>
          <a:noFill/>
        </p:spPr>
        <p:txBody>
          <a:bodyPr vert="horz" wrap="square" lIns="0" tIns="0" rIns="0" bIns="0" rtlCol="0">
            <a:noAutofit/>
          </a:bodyPr>
          <a:lstStyle/>
          <a:p>
            <a:r>
              <a:rPr lang="en-IN" sz="3000" b="1">
                <a:solidFill>
                  <a:srgbClr val="17396B"/>
                </a:solidFill>
                <a:latin typeface="Calibri" panose="020F0502020204030204" pitchFamily="34" charset="0"/>
              </a:rPr>
              <a:t>System Architecture / Workflow</a:t>
            </a:r>
          </a:p>
        </p:txBody>
      </p:sp>
      <p:cxnSp>
        <p:nvCxnSpPr>
          <p:cNvPr id="5" name="Straight Connector 4">
            <a:extLst>
              <a:ext uri="{FF2B5EF4-FFF2-40B4-BE49-F238E27FC236}">
                <a16:creationId xmlns:a16="http://schemas.microsoft.com/office/drawing/2014/main" id="{A6E5A53D-7AC5-D6CB-C8B2-19498542924A}"/>
              </a:ext>
            </a:extLst>
          </p:cNvPr>
          <p:cNvCxnSpPr/>
          <p:nvPr/>
        </p:nvCxnSpPr>
        <p:spPr>
          <a:xfrm>
            <a:off x="698500" y="1320800"/>
            <a:ext cx="10795000" cy="0"/>
          </a:xfrm>
          <a:prstGeom prst="line">
            <a:avLst/>
          </a:prstGeom>
          <a:ln w="22225">
            <a:solidFill>
              <a:srgbClr val="17396B"/>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361217A-A8D3-A54C-7815-1C4205174332}"/>
              </a:ext>
            </a:extLst>
          </p:cNvPr>
          <p:cNvSpPr txBox="1"/>
          <p:nvPr/>
        </p:nvSpPr>
        <p:spPr>
          <a:xfrm>
            <a:off x="228600" y="6502400"/>
            <a:ext cx="8890000" cy="369332"/>
          </a:xfrm>
          <a:prstGeom prst="rect">
            <a:avLst/>
          </a:prstGeom>
          <a:noFill/>
        </p:spPr>
        <p:txBody>
          <a:bodyPr vert="horz" wrap="square" lIns="0" tIns="0" rIns="0" bIns="0" rtlCol="0">
            <a:noAutofit/>
          </a:bodyPr>
          <a:lstStyle/>
          <a:p>
            <a:r>
              <a:rPr lang="en-US" sz="1050">
                <a:solidFill>
                  <a:srgbClr val="17396B"/>
                </a:solidFill>
                <a:latin typeface="Calibri" panose="020F0502020204030204" pitchFamily="34" charset="0"/>
              </a:rPr>
              <a:t>Department of Computer Science &amp; Engineering — Graphic Era (Deemed to be University)</a:t>
            </a:r>
            <a:endParaRPr lang="en-IN" sz="1050">
              <a:solidFill>
                <a:srgbClr val="17396B"/>
              </a:solidFill>
              <a:latin typeface="Calibri" panose="020F0502020204030204" pitchFamily="34" charset="0"/>
            </a:endParaRPr>
          </a:p>
        </p:txBody>
      </p:sp>
      <p:sp>
        <p:nvSpPr>
          <p:cNvPr id="7" name="TextBox 6">
            <a:extLst>
              <a:ext uri="{FF2B5EF4-FFF2-40B4-BE49-F238E27FC236}">
                <a16:creationId xmlns:a16="http://schemas.microsoft.com/office/drawing/2014/main" id="{12AD34BD-F885-6EFE-4794-24C451385D5A}"/>
              </a:ext>
            </a:extLst>
          </p:cNvPr>
          <p:cNvSpPr txBox="1"/>
          <p:nvPr/>
        </p:nvSpPr>
        <p:spPr>
          <a:xfrm>
            <a:off x="11049000" y="6502400"/>
            <a:ext cx="914400" cy="369332"/>
          </a:xfrm>
          <a:prstGeom prst="rect">
            <a:avLst/>
          </a:prstGeom>
          <a:noFill/>
        </p:spPr>
        <p:txBody>
          <a:bodyPr vert="horz" wrap="square" lIns="0" tIns="0" rIns="0" bIns="0" rtlCol="0">
            <a:noAutofit/>
          </a:bodyPr>
          <a:lstStyle/>
          <a:p>
            <a:pPr algn="r"/>
            <a:r>
              <a:rPr lang="en-IN" sz="1050">
                <a:solidFill>
                  <a:srgbClr val="1B1B1B"/>
                </a:solidFill>
                <a:latin typeface="Calibri" panose="020F0502020204030204" pitchFamily="34" charset="0"/>
              </a:rPr>
              <a:t>7/10</a:t>
            </a:r>
          </a:p>
        </p:txBody>
      </p:sp>
      <p:sp>
        <p:nvSpPr>
          <p:cNvPr id="8" name="Rectangle: Rounded Corners 7">
            <a:extLst>
              <a:ext uri="{FF2B5EF4-FFF2-40B4-BE49-F238E27FC236}">
                <a16:creationId xmlns:a16="http://schemas.microsoft.com/office/drawing/2014/main" id="{2B7942CA-30A3-52D0-A2EA-BE7665A1923A}"/>
              </a:ext>
            </a:extLst>
          </p:cNvPr>
          <p:cNvSpPr/>
          <p:nvPr/>
        </p:nvSpPr>
        <p:spPr>
          <a:xfrm>
            <a:off x="736600" y="1778000"/>
            <a:ext cx="1879600" cy="838200"/>
          </a:xfrm>
          <a:prstGeom prst="roundRect">
            <a:avLst>
              <a:gd name="adj" fmla="val 14000"/>
            </a:avLst>
          </a:prstGeom>
          <a:solidFill>
            <a:srgbClr val="EAF1FA"/>
          </a:solidFill>
          <a:ln w="15875">
            <a:solidFill>
              <a:srgbClr val="17396B"/>
            </a:solidFill>
          </a:ln>
        </p:spPr>
        <p:style>
          <a:lnRef idx="2">
            <a:schemeClr val="accent1">
              <a:shade val="15000"/>
            </a:schemeClr>
          </a:lnRef>
          <a:fillRef idx="1">
            <a:schemeClr val="accent1"/>
          </a:fillRef>
          <a:effectRef idx="0">
            <a:schemeClr val="accent1"/>
          </a:effectRef>
          <a:fontRef idx="minor">
            <a:schemeClr val="lt1"/>
          </a:fontRef>
        </p:style>
        <p:txBody>
          <a:bodyPr lIns="25400" rIns="25400" rtlCol="0" anchor="ctr"/>
          <a:lstStyle/>
          <a:p>
            <a:pPr algn="ctr"/>
            <a:r>
              <a:rPr lang="en-IN" sz="1600">
                <a:solidFill>
                  <a:srgbClr val="1B1B1B"/>
                </a:solidFill>
                <a:latin typeface="Calibri" panose="020F0502020204030204" pitchFamily="34" charset="0"/>
              </a:rPr>
              <a:t>User / Browser</a:t>
            </a:r>
          </a:p>
          <a:p>
            <a:pPr algn="ctr"/>
            <a:r>
              <a:rPr lang="en-IN" sz="1600">
                <a:solidFill>
                  <a:srgbClr val="1B1B1B"/>
                </a:solidFill>
                <a:latin typeface="Calibri" panose="020F0502020204030204" pitchFamily="34" charset="0"/>
              </a:rPr>
              <a:t>JSP views</a:t>
            </a:r>
          </a:p>
        </p:txBody>
      </p:sp>
      <p:cxnSp>
        <p:nvCxnSpPr>
          <p:cNvPr id="9" name="Straight Connector 8">
            <a:extLst>
              <a:ext uri="{FF2B5EF4-FFF2-40B4-BE49-F238E27FC236}">
                <a16:creationId xmlns:a16="http://schemas.microsoft.com/office/drawing/2014/main" id="{4682C289-7B69-ED5E-397F-F51A54248116}"/>
              </a:ext>
            </a:extLst>
          </p:cNvPr>
          <p:cNvCxnSpPr/>
          <p:nvPr/>
        </p:nvCxnSpPr>
        <p:spPr>
          <a:xfrm>
            <a:off x="2641600" y="2197100"/>
            <a:ext cx="330200" cy="0"/>
          </a:xfrm>
          <a:prstGeom prst="line">
            <a:avLst/>
          </a:prstGeom>
          <a:ln w="22225">
            <a:solidFill>
              <a:srgbClr val="17396B"/>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59E0678D-68CE-DD70-3C7C-CCD6720DDC76}"/>
              </a:ext>
            </a:extLst>
          </p:cNvPr>
          <p:cNvSpPr/>
          <p:nvPr/>
        </p:nvSpPr>
        <p:spPr>
          <a:xfrm>
            <a:off x="2997200" y="1778000"/>
            <a:ext cx="1879600" cy="838200"/>
          </a:xfrm>
          <a:prstGeom prst="roundRect">
            <a:avLst>
              <a:gd name="adj" fmla="val 14000"/>
            </a:avLst>
          </a:prstGeom>
          <a:solidFill>
            <a:srgbClr val="EAF1FA"/>
          </a:solidFill>
          <a:ln w="15875">
            <a:solidFill>
              <a:srgbClr val="17396B"/>
            </a:solidFill>
          </a:ln>
        </p:spPr>
        <p:style>
          <a:lnRef idx="2">
            <a:schemeClr val="accent1">
              <a:shade val="15000"/>
            </a:schemeClr>
          </a:lnRef>
          <a:fillRef idx="1">
            <a:schemeClr val="accent1"/>
          </a:fillRef>
          <a:effectRef idx="0">
            <a:schemeClr val="accent1"/>
          </a:effectRef>
          <a:fontRef idx="minor">
            <a:schemeClr val="lt1"/>
          </a:fontRef>
        </p:style>
        <p:txBody>
          <a:bodyPr lIns="25400" rIns="25400" rtlCol="0" anchor="ctr"/>
          <a:lstStyle/>
          <a:p>
            <a:pPr algn="ctr"/>
            <a:r>
              <a:rPr lang="en-IN" sz="1600">
                <a:solidFill>
                  <a:srgbClr val="1B1B1B"/>
                </a:solidFill>
                <a:latin typeface="Calibri" panose="020F0502020204030204" pitchFamily="34" charset="0"/>
              </a:rPr>
              <a:t>Servlet</a:t>
            </a:r>
          </a:p>
          <a:p>
            <a:pPr algn="ctr"/>
            <a:r>
              <a:rPr lang="en-IN" sz="1600">
                <a:solidFill>
                  <a:srgbClr val="1B1B1B"/>
                </a:solidFill>
                <a:latin typeface="Calibri" panose="020F0502020204030204" pitchFamily="34" charset="0"/>
              </a:rPr>
              <a:t>Controllers</a:t>
            </a:r>
          </a:p>
        </p:txBody>
      </p:sp>
      <p:cxnSp>
        <p:nvCxnSpPr>
          <p:cNvPr id="11" name="Straight Connector 10">
            <a:extLst>
              <a:ext uri="{FF2B5EF4-FFF2-40B4-BE49-F238E27FC236}">
                <a16:creationId xmlns:a16="http://schemas.microsoft.com/office/drawing/2014/main" id="{BC4753EC-F387-CC95-10B9-97AE2BD1EAB3}"/>
              </a:ext>
            </a:extLst>
          </p:cNvPr>
          <p:cNvCxnSpPr/>
          <p:nvPr/>
        </p:nvCxnSpPr>
        <p:spPr>
          <a:xfrm>
            <a:off x="4902200" y="2197100"/>
            <a:ext cx="330200" cy="0"/>
          </a:xfrm>
          <a:prstGeom prst="line">
            <a:avLst/>
          </a:prstGeom>
          <a:ln w="22225">
            <a:solidFill>
              <a:srgbClr val="17396B"/>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FDC71522-102F-9D47-5F35-C93A6B93603D}"/>
              </a:ext>
            </a:extLst>
          </p:cNvPr>
          <p:cNvSpPr/>
          <p:nvPr/>
        </p:nvSpPr>
        <p:spPr>
          <a:xfrm>
            <a:off x="5257800" y="1778000"/>
            <a:ext cx="1879600" cy="838200"/>
          </a:xfrm>
          <a:prstGeom prst="roundRect">
            <a:avLst>
              <a:gd name="adj" fmla="val 14000"/>
            </a:avLst>
          </a:prstGeom>
          <a:solidFill>
            <a:srgbClr val="EAF1FA"/>
          </a:solidFill>
          <a:ln w="15875">
            <a:solidFill>
              <a:srgbClr val="17396B"/>
            </a:solidFill>
          </a:ln>
        </p:spPr>
        <p:style>
          <a:lnRef idx="2">
            <a:schemeClr val="accent1">
              <a:shade val="15000"/>
            </a:schemeClr>
          </a:lnRef>
          <a:fillRef idx="1">
            <a:schemeClr val="accent1"/>
          </a:fillRef>
          <a:effectRef idx="0">
            <a:schemeClr val="accent1"/>
          </a:effectRef>
          <a:fontRef idx="minor">
            <a:schemeClr val="lt1"/>
          </a:fontRef>
        </p:style>
        <p:txBody>
          <a:bodyPr lIns="25400" rIns="25400" rtlCol="0" anchor="ctr"/>
          <a:lstStyle/>
          <a:p>
            <a:pPr algn="ctr"/>
            <a:r>
              <a:rPr lang="en-IN" sz="1600">
                <a:solidFill>
                  <a:srgbClr val="1B1B1B"/>
                </a:solidFill>
                <a:latin typeface="Calibri" panose="020F0502020204030204" pitchFamily="34" charset="0"/>
              </a:rPr>
              <a:t>Service Layer</a:t>
            </a:r>
          </a:p>
          <a:p>
            <a:pPr algn="ctr"/>
            <a:r>
              <a:rPr lang="en-IN" sz="1600">
                <a:solidFill>
                  <a:srgbClr val="1B1B1B"/>
                </a:solidFill>
                <a:latin typeface="Calibri" panose="020F0502020204030204" pitchFamily="34" charset="0"/>
              </a:rPr>
              <a:t>(Matching)</a:t>
            </a:r>
          </a:p>
        </p:txBody>
      </p:sp>
      <p:cxnSp>
        <p:nvCxnSpPr>
          <p:cNvPr id="13" name="Straight Connector 12">
            <a:extLst>
              <a:ext uri="{FF2B5EF4-FFF2-40B4-BE49-F238E27FC236}">
                <a16:creationId xmlns:a16="http://schemas.microsoft.com/office/drawing/2014/main" id="{0D495DDE-EED0-AC94-C01C-B35E00506927}"/>
              </a:ext>
            </a:extLst>
          </p:cNvPr>
          <p:cNvCxnSpPr/>
          <p:nvPr/>
        </p:nvCxnSpPr>
        <p:spPr>
          <a:xfrm>
            <a:off x="7162800" y="2197100"/>
            <a:ext cx="330200" cy="0"/>
          </a:xfrm>
          <a:prstGeom prst="line">
            <a:avLst/>
          </a:prstGeom>
          <a:ln w="22225">
            <a:solidFill>
              <a:srgbClr val="17396B"/>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BEAE55F2-1E24-4541-1588-DE078157BF98}"/>
              </a:ext>
            </a:extLst>
          </p:cNvPr>
          <p:cNvSpPr/>
          <p:nvPr/>
        </p:nvSpPr>
        <p:spPr>
          <a:xfrm>
            <a:off x="7518400" y="1778000"/>
            <a:ext cx="1879600" cy="838200"/>
          </a:xfrm>
          <a:prstGeom prst="roundRect">
            <a:avLst>
              <a:gd name="adj" fmla="val 14000"/>
            </a:avLst>
          </a:prstGeom>
          <a:solidFill>
            <a:srgbClr val="EAF1FA"/>
          </a:solidFill>
          <a:ln w="15875">
            <a:solidFill>
              <a:srgbClr val="17396B"/>
            </a:solidFill>
          </a:ln>
        </p:spPr>
        <p:style>
          <a:lnRef idx="2">
            <a:schemeClr val="accent1">
              <a:shade val="15000"/>
            </a:schemeClr>
          </a:lnRef>
          <a:fillRef idx="1">
            <a:schemeClr val="accent1"/>
          </a:fillRef>
          <a:effectRef idx="0">
            <a:schemeClr val="accent1"/>
          </a:effectRef>
          <a:fontRef idx="minor">
            <a:schemeClr val="lt1"/>
          </a:fontRef>
        </p:style>
        <p:txBody>
          <a:bodyPr lIns="25400" rIns="25400" rtlCol="0" anchor="ctr"/>
          <a:lstStyle/>
          <a:p>
            <a:pPr algn="ctr"/>
            <a:r>
              <a:rPr lang="en-IN" sz="1600">
                <a:solidFill>
                  <a:srgbClr val="1B1B1B"/>
                </a:solidFill>
                <a:latin typeface="Calibri" panose="020F0502020204030204" pitchFamily="34" charset="0"/>
              </a:rPr>
              <a:t>DAO /</a:t>
            </a:r>
          </a:p>
          <a:p>
            <a:pPr algn="ctr"/>
            <a:r>
              <a:rPr lang="en-IN" sz="1600">
                <a:solidFill>
                  <a:srgbClr val="1B1B1B"/>
                </a:solidFill>
                <a:latin typeface="Calibri" panose="020F0502020204030204" pitchFamily="34" charset="0"/>
              </a:rPr>
              <a:t>JDBC</a:t>
            </a:r>
          </a:p>
        </p:txBody>
      </p:sp>
      <p:cxnSp>
        <p:nvCxnSpPr>
          <p:cNvPr id="15" name="Straight Connector 14">
            <a:extLst>
              <a:ext uri="{FF2B5EF4-FFF2-40B4-BE49-F238E27FC236}">
                <a16:creationId xmlns:a16="http://schemas.microsoft.com/office/drawing/2014/main" id="{E9B0277A-77FE-E01E-484D-C8F7CF4D1459}"/>
              </a:ext>
            </a:extLst>
          </p:cNvPr>
          <p:cNvCxnSpPr/>
          <p:nvPr/>
        </p:nvCxnSpPr>
        <p:spPr>
          <a:xfrm>
            <a:off x="9423400" y="2197100"/>
            <a:ext cx="330200" cy="0"/>
          </a:xfrm>
          <a:prstGeom prst="line">
            <a:avLst/>
          </a:prstGeom>
          <a:ln w="22225">
            <a:solidFill>
              <a:srgbClr val="17396B"/>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7F7BC47-E851-0C66-C9E6-2E5830D4D324}"/>
              </a:ext>
            </a:extLst>
          </p:cNvPr>
          <p:cNvSpPr/>
          <p:nvPr/>
        </p:nvSpPr>
        <p:spPr>
          <a:xfrm>
            <a:off x="9779000" y="1778000"/>
            <a:ext cx="1879600" cy="838200"/>
          </a:xfrm>
          <a:prstGeom prst="roundRect">
            <a:avLst>
              <a:gd name="adj" fmla="val 14000"/>
            </a:avLst>
          </a:prstGeom>
          <a:solidFill>
            <a:srgbClr val="EAF1FA"/>
          </a:solidFill>
          <a:ln w="15875">
            <a:solidFill>
              <a:srgbClr val="17396B"/>
            </a:solidFill>
          </a:ln>
        </p:spPr>
        <p:style>
          <a:lnRef idx="2">
            <a:schemeClr val="accent1">
              <a:shade val="15000"/>
            </a:schemeClr>
          </a:lnRef>
          <a:fillRef idx="1">
            <a:schemeClr val="accent1"/>
          </a:fillRef>
          <a:effectRef idx="0">
            <a:schemeClr val="accent1"/>
          </a:effectRef>
          <a:fontRef idx="minor">
            <a:schemeClr val="lt1"/>
          </a:fontRef>
        </p:style>
        <p:txBody>
          <a:bodyPr lIns="25400" rIns="25400" rtlCol="0" anchor="ctr"/>
          <a:lstStyle/>
          <a:p>
            <a:pPr algn="ctr"/>
            <a:r>
              <a:rPr lang="en-IN" sz="1600">
                <a:solidFill>
                  <a:srgbClr val="1B1B1B"/>
                </a:solidFill>
                <a:latin typeface="Calibri" panose="020F0502020204030204" pitchFamily="34" charset="0"/>
              </a:rPr>
              <a:t>MariaDB</a:t>
            </a:r>
          </a:p>
          <a:p>
            <a:pPr algn="ctr"/>
            <a:r>
              <a:rPr lang="en-IN" sz="1600">
                <a:solidFill>
                  <a:srgbClr val="1B1B1B"/>
                </a:solidFill>
                <a:latin typeface="Calibri" panose="020F0502020204030204" pitchFamily="34" charset="0"/>
              </a:rPr>
              <a:t>reclaim_db</a:t>
            </a:r>
          </a:p>
        </p:txBody>
      </p:sp>
      <p:sp>
        <p:nvSpPr>
          <p:cNvPr id="17" name="TextBox 16">
            <a:extLst>
              <a:ext uri="{FF2B5EF4-FFF2-40B4-BE49-F238E27FC236}">
                <a16:creationId xmlns:a16="http://schemas.microsoft.com/office/drawing/2014/main" id="{78E3A886-BA3F-0145-30DF-83F9BCB119F9}"/>
              </a:ext>
            </a:extLst>
          </p:cNvPr>
          <p:cNvSpPr txBox="1"/>
          <p:nvPr/>
        </p:nvSpPr>
        <p:spPr>
          <a:xfrm>
            <a:off x="736600" y="2743200"/>
            <a:ext cx="10795000" cy="369332"/>
          </a:xfrm>
          <a:prstGeom prst="rect">
            <a:avLst/>
          </a:prstGeom>
          <a:noFill/>
        </p:spPr>
        <p:txBody>
          <a:bodyPr vert="horz" wrap="square" lIns="0" tIns="0" rIns="0" bIns="0" rtlCol="0">
            <a:noAutofit/>
          </a:bodyPr>
          <a:lstStyle/>
          <a:p>
            <a:pPr algn="ctr"/>
            <a:r>
              <a:rPr lang="en-US" sz="1250" i="1">
                <a:solidFill>
                  <a:srgbClr val="6B7280"/>
                </a:solidFill>
                <a:latin typeface="Calibri" panose="020F0502020204030204" pitchFamily="34" charset="0"/>
              </a:rPr>
              <a:t>Filters on every request: security headers → session login check → CSRF token check.   Model: JavaBeans User, Item, Match.</a:t>
            </a:r>
            <a:endParaRPr lang="en-IN" sz="1250" i="1">
              <a:solidFill>
                <a:srgbClr val="6B7280"/>
              </a:solidFill>
              <a:latin typeface="Calibri" panose="020F0502020204030204" pitchFamily="34" charset="0"/>
            </a:endParaRPr>
          </a:p>
        </p:txBody>
      </p:sp>
      <p:sp>
        <p:nvSpPr>
          <p:cNvPr id="18" name="TextBox 17">
            <a:extLst>
              <a:ext uri="{FF2B5EF4-FFF2-40B4-BE49-F238E27FC236}">
                <a16:creationId xmlns:a16="http://schemas.microsoft.com/office/drawing/2014/main" id="{F87DB196-BCBE-DC18-D9D5-83523A473901}"/>
              </a:ext>
            </a:extLst>
          </p:cNvPr>
          <p:cNvSpPr txBox="1"/>
          <p:nvPr/>
        </p:nvSpPr>
        <p:spPr>
          <a:xfrm>
            <a:off x="698500" y="3200400"/>
            <a:ext cx="5334000" cy="369332"/>
          </a:xfrm>
          <a:prstGeom prst="rect">
            <a:avLst/>
          </a:prstGeom>
          <a:noFill/>
        </p:spPr>
        <p:txBody>
          <a:bodyPr vert="horz" wrap="square" lIns="0" tIns="0" rIns="0" bIns="0" rtlCol="0">
            <a:noAutofit/>
          </a:bodyPr>
          <a:lstStyle/>
          <a:p>
            <a:r>
              <a:rPr lang="en-IN" sz="2000" b="1">
                <a:solidFill>
                  <a:srgbClr val="17396B"/>
                </a:solidFill>
                <a:latin typeface="Calibri" panose="020F0502020204030204" pitchFamily="34" charset="0"/>
              </a:rPr>
              <a:t>Major Components</a:t>
            </a:r>
          </a:p>
        </p:txBody>
      </p:sp>
      <p:sp>
        <p:nvSpPr>
          <p:cNvPr id="19" name="TextBox 18">
            <a:extLst>
              <a:ext uri="{FF2B5EF4-FFF2-40B4-BE49-F238E27FC236}">
                <a16:creationId xmlns:a16="http://schemas.microsoft.com/office/drawing/2014/main" id="{36E1AEB0-0FDF-A598-EEB4-395C4D1FAD7D}"/>
              </a:ext>
            </a:extLst>
          </p:cNvPr>
          <p:cNvSpPr txBox="1"/>
          <p:nvPr/>
        </p:nvSpPr>
        <p:spPr>
          <a:xfrm>
            <a:off x="698500" y="3657600"/>
            <a:ext cx="5334000" cy="369332"/>
          </a:xfrm>
          <a:prstGeom prst="rect">
            <a:avLst/>
          </a:prstGeom>
          <a:noFill/>
        </p:spPr>
        <p:txBody>
          <a:bodyPr vert="horz" wrap="square" lIns="0" tIns="0" rIns="0" bIns="0" rtlCol="0">
            <a:noAutofit/>
          </a:bodyPr>
          <a:lstStyle/>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Authentication (Module 1)</a:t>
            </a:r>
          </a:p>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Lost / found reporting (Module 2)</a:t>
            </a:r>
          </a:p>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Browse + rule-based matching (Module 3)</a:t>
            </a:r>
            <a:endParaRPr lang="en-IN" sz="1600">
              <a:solidFill>
                <a:srgbClr val="1B1B1B"/>
              </a:solidFill>
              <a:latin typeface="Calibri" panose="020F0502020204030204" pitchFamily="34" charset="0"/>
            </a:endParaRPr>
          </a:p>
        </p:txBody>
      </p:sp>
      <p:sp>
        <p:nvSpPr>
          <p:cNvPr id="20" name="TextBox 19">
            <a:extLst>
              <a:ext uri="{FF2B5EF4-FFF2-40B4-BE49-F238E27FC236}">
                <a16:creationId xmlns:a16="http://schemas.microsoft.com/office/drawing/2014/main" id="{F20D83D0-B322-9E00-3A66-F366276BDAF5}"/>
              </a:ext>
            </a:extLst>
          </p:cNvPr>
          <p:cNvSpPr txBox="1"/>
          <p:nvPr/>
        </p:nvSpPr>
        <p:spPr>
          <a:xfrm>
            <a:off x="6350000" y="3200400"/>
            <a:ext cx="5334000" cy="369332"/>
          </a:xfrm>
          <a:prstGeom prst="rect">
            <a:avLst/>
          </a:prstGeom>
          <a:noFill/>
        </p:spPr>
        <p:txBody>
          <a:bodyPr vert="horz" wrap="square" lIns="0" tIns="0" rIns="0" bIns="0" rtlCol="0">
            <a:noAutofit/>
          </a:bodyPr>
          <a:lstStyle/>
          <a:p>
            <a:r>
              <a:rPr lang="en-IN" sz="2000" b="1">
                <a:solidFill>
                  <a:srgbClr val="17396B"/>
                </a:solidFill>
                <a:latin typeface="Calibri" panose="020F0502020204030204" pitchFamily="34" charset="0"/>
              </a:rPr>
              <a:t>Data / Control Flow</a:t>
            </a:r>
          </a:p>
        </p:txBody>
      </p:sp>
      <p:sp>
        <p:nvSpPr>
          <p:cNvPr id="21" name="TextBox 20">
            <a:extLst>
              <a:ext uri="{FF2B5EF4-FFF2-40B4-BE49-F238E27FC236}">
                <a16:creationId xmlns:a16="http://schemas.microsoft.com/office/drawing/2014/main" id="{F95EFC48-6D54-E816-A8C1-E89F0B98432B}"/>
              </a:ext>
            </a:extLst>
          </p:cNvPr>
          <p:cNvSpPr txBox="1"/>
          <p:nvPr/>
        </p:nvSpPr>
        <p:spPr>
          <a:xfrm>
            <a:off x="6350000" y="3657600"/>
            <a:ext cx="5207000" cy="369332"/>
          </a:xfrm>
          <a:prstGeom prst="rect">
            <a:avLst/>
          </a:prstGeom>
          <a:noFill/>
        </p:spPr>
        <p:txBody>
          <a:bodyPr vert="horz" wrap="square" lIns="0" tIns="0" rIns="0" bIns="0" rtlCol="0">
            <a:noAutofit/>
          </a:bodyPr>
          <a:lstStyle/>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Form → Servlet → Service → DAO → SQL</a:t>
            </a:r>
          </a:p>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Matching: opposite-type open reports scored in Java</a:t>
            </a:r>
          </a:p>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Output: ranked matches with score breakdown</a:t>
            </a:r>
            <a:endParaRPr lang="en-IN" sz="1600">
              <a:solidFill>
                <a:srgbClr val="1B1B1B"/>
              </a:solidFill>
              <a:latin typeface="Calibri" panose="020F0502020204030204" pitchFamily="34" charset="0"/>
            </a:endParaRPr>
          </a:p>
        </p:txBody>
      </p:sp>
    </p:spTree>
    <p:extLst>
      <p:ext uri="{BB962C8B-B14F-4D97-AF65-F5344CB8AC3E}">
        <p14:creationId xmlns:p14="http://schemas.microsoft.com/office/powerpoint/2010/main" val="733506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527159-EF21-CEBE-AFAF-22DDB92DE0F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41100" y="177800"/>
            <a:ext cx="584200" cy="584200"/>
          </a:xfrm>
          <a:prstGeom prst="rect">
            <a:avLst/>
          </a:prstGeom>
        </p:spPr>
      </p:pic>
      <p:sp>
        <p:nvSpPr>
          <p:cNvPr id="4" name="Title">
            <a:extLst>
              <a:ext uri="{FF2B5EF4-FFF2-40B4-BE49-F238E27FC236}">
                <a16:creationId xmlns:a16="http://schemas.microsoft.com/office/drawing/2014/main" id="{2B559517-D3AC-FBB1-FC24-02E54851D1A5}"/>
              </a:ext>
            </a:extLst>
          </p:cNvPr>
          <p:cNvSpPr txBox="1"/>
          <p:nvPr/>
        </p:nvSpPr>
        <p:spPr>
          <a:xfrm>
            <a:off x="698500" y="482600"/>
            <a:ext cx="10414000" cy="369332"/>
          </a:xfrm>
          <a:prstGeom prst="rect">
            <a:avLst/>
          </a:prstGeom>
          <a:noFill/>
        </p:spPr>
        <p:txBody>
          <a:bodyPr vert="horz" wrap="square" lIns="0" tIns="0" rIns="0" bIns="0" rtlCol="0">
            <a:noAutofit/>
          </a:bodyPr>
          <a:lstStyle/>
          <a:p>
            <a:r>
              <a:rPr lang="en-IN" sz="3000" b="1">
                <a:solidFill>
                  <a:srgbClr val="17396B"/>
                </a:solidFill>
                <a:latin typeface="Calibri" panose="020F0502020204030204" pitchFamily="34" charset="0"/>
              </a:rPr>
              <a:t>Technology Stack &amp; Methodology</a:t>
            </a:r>
          </a:p>
        </p:txBody>
      </p:sp>
      <p:cxnSp>
        <p:nvCxnSpPr>
          <p:cNvPr id="5" name="Straight Connector 4">
            <a:extLst>
              <a:ext uri="{FF2B5EF4-FFF2-40B4-BE49-F238E27FC236}">
                <a16:creationId xmlns:a16="http://schemas.microsoft.com/office/drawing/2014/main" id="{347738F1-EC6C-25F0-4579-915663E3C55D}"/>
              </a:ext>
            </a:extLst>
          </p:cNvPr>
          <p:cNvCxnSpPr/>
          <p:nvPr/>
        </p:nvCxnSpPr>
        <p:spPr>
          <a:xfrm>
            <a:off x="698500" y="1320800"/>
            <a:ext cx="10795000" cy="0"/>
          </a:xfrm>
          <a:prstGeom prst="line">
            <a:avLst/>
          </a:prstGeom>
          <a:ln w="22225">
            <a:solidFill>
              <a:srgbClr val="17396B"/>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ACB999B-61A8-1130-C8E2-E2760F2CAC3E}"/>
              </a:ext>
            </a:extLst>
          </p:cNvPr>
          <p:cNvSpPr txBox="1"/>
          <p:nvPr/>
        </p:nvSpPr>
        <p:spPr>
          <a:xfrm>
            <a:off x="228600" y="6502400"/>
            <a:ext cx="8890000" cy="369332"/>
          </a:xfrm>
          <a:prstGeom prst="rect">
            <a:avLst/>
          </a:prstGeom>
          <a:noFill/>
        </p:spPr>
        <p:txBody>
          <a:bodyPr vert="horz" wrap="square" lIns="0" tIns="0" rIns="0" bIns="0" rtlCol="0">
            <a:noAutofit/>
          </a:bodyPr>
          <a:lstStyle/>
          <a:p>
            <a:r>
              <a:rPr lang="en-US" sz="1050">
                <a:solidFill>
                  <a:srgbClr val="17396B"/>
                </a:solidFill>
                <a:latin typeface="Calibri" panose="020F0502020204030204" pitchFamily="34" charset="0"/>
              </a:rPr>
              <a:t>Department of Computer Science &amp; Engineering — Graphic Era (Deemed to be University)</a:t>
            </a:r>
            <a:endParaRPr lang="en-IN" sz="1050">
              <a:solidFill>
                <a:srgbClr val="17396B"/>
              </a:solidFill>
              <a:latin typeface="Calibri" panose="020F0502020204030204" pitchFamily="34" charset="0"/>
            </a:endParaRPr>
          </a:p>
        </p:txBody>
      </p:sp>
      <p:sp>
        <p:nvSpPr>
          <p:cNvPr id="7" name="TextBox 6">
            <a:extLst>
              <a:ext uri="{FF2B5EF4-FFF2-40B4-BE49-F238E27FC236}">
                <a16:creationId xmlns:a16="http://schemas.microsoft.com/office/drawing/2014/main" id="{1606B445-3AF6-97B1-7E6E-D6EC3C73BC06}"/>
              </a:ext>
            </a:extLst>
          </p:cNvPr>
          <p:cNvSpPr txBox="1"/>
          <p:nvPr/>
        </p:nvSpPr>
        <p:spPr>
          <a:xfrm>
            <a:off x="11049000" y="6502400"/>
            <a:ext cx="914400" cy="369332"/>
          </a:xfrm>
          <a:prstGeom prst="rect">
            <a:avLst/>
          </a:prstGeom>
          <a:noFill/>
        </p:spPr>
        <p:txBody>
          <a:bodyPr vert="horz" wrap="square" lIns="0" tIns="0" rIns="0" bIns="0" rtlCol="0">
            <a:noAutofit/>
          </a:bodyPr>
          <a:lstStyle/>
          <a:p>
            <a:pPr algn="r"/>
            <a:r>
              <a:rPr lang="en-IN" sz="1050">
                <a:solidFill>
                  <a:srgbClr val="1B1B1B"/>
                </a:solidFill>
                <a:latin typeface="Calibri" panose="020F0502020204030204" pitchFamily="34" charset="0"/>
              </a:rPr>
              <a:t>8/10</a:t>
            </a:r>
          </a:p>
        </p:txBody>
      </p:sp>
      <p:sp>
        <p:nvSpPr>
          <p:cNvPr id="8" name="Rectangle: Rounded Corners 7">
            <a:extLst>
              <a:ext uri="{FF2B5EF4-FFF2-40B4-BE49-F238E27FC236}">
                <a16:creationId xmlns:a16="http://schemas.microsoft.com/office/drawing/2014/main" id="{114DFC43-A4EA-E154-AEA4-F6DF6B5ED13A}"/>
              </a:ext>
            </a:extLst>
          </p:cNvPr>
          <p:cNvSpPr/>
          <p:nvPr/>
        </p:nvSpPr>
        <p:spPr>
          <a:xfrm>
            <a:off x="635000" y="1676400"/>
            <a:ext cx="5308600" cy="3200400"/>
          </a:xfrm>
          <a:prstGeom prst="roundRect">
            <a:avLst>
              <a:gd name="adj" fmla="val 3968"/>
            </a:avLst>
          </a:prstGeom>
          <a:solidFill>
            <a:srgbClr val="EAF1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5F67DAE-BC96-9035-A7BE-150AD5620F0F}"/>
              </a:ext>
            </a:extLst>
          </p:cNvPr>
          <p:cNvSpPr txBox="1"/>
          <p:nvPr/>
        </p:nvSpPr>
        <p:spPr>
          <a:xfrm>
            <a:off x="838200" y="1803400"/>
            <a:ext cx="4953000" cy="369332"/>
          </a:xfrm>
          <a:prstGeom prst="rect">
            <a:avLst/>
          </a:prstGeom>
          <a:noFill/>
        </p:spPr>
        <p:txBody>
          <a:bodyPr vert="horz" wrap="square" lIns="0" tIns="0" rIns="0" bIns="0" rtlCol="0">
            <a:noAutofit/>
          </a:bodyPr>
          <a:lstStyle/>
          <a:p>
            <a:r>
              <a:rPr lang="en-IN" sz="2000">
                <a:solidFill>
                  <a:srgbClr val="17396B"/>
                </a:solidFill>
                <a:latin typeface="Calibri" panose="020F0502020204030204" pitchFamily="34" charset="0"/>
              </a:rPr>
              <a:t>Technology Stack</a:t>
            </a:r>
          </a:p>
        </p:txBody>
      </p:sp>
      <p:sp>
        <p:nvSpPr>
          <p:cNvPr id="10" name="TextBox 9">
            <a:extLst>
              <a:ext uri="{FF2B5EF4-FFF2-40B4-BE49-F238E27FC236}">
                <a16:creationId xmlns:a16="http://schemas.microsoft.com/office/drawing/2014/main" id="{664A59C0-B4B4-2A4A-D174-5F75F9A30FEE}"/>
              </a:ext>
            </a:extLst>
          </p:cNvPr>
          <p:cNvSpPr txBox="1"/>
          <p:nvPr/>
        </p:nvSpPr>
        <p:spPr>
          <a:xfrm>
            <a:off x="838200" y="2260600"/>
            <a:ext cx="4978400" cy="369332"/>
          </a:xfrm>
          <a:prstGeom prst="rect">
            <a:avLst/>
          </a:prstGeom>
          <a:noFill/>
        </p:spPr>
        <p:txBody>
          <a:bodyPr vert="horz" wrap="square" lIns="0" tIns="0" rIns="0" bIns="0" rtlCol="0">
            <a:noAutofit/>
          </a:bodyPr>
          <a:lstStyle/>
          <a:p>
            <a:pPr marL="279400" indent="-279400">
              <a:spcAft>
                <a:spcPts val="400"/>
              </a:spcAft>
              <a:buClr>
                <a:srgbClr val="17396B"/>
              </a:buClr>
              <a:buSzPct val="75000"/>
              <a:buFont typeface="+mj-lt"/>
              <a:buChar char="▶"/>
            </a:pPr>
            <a:r>
              <a:rPr lang="en-IN" sz="1500">
                <a:solidFill>
                  <a:srgbClr val="1B1B1B"/>
                </a:solidFill>
                <a:latin typeface="Calibri" panose="020F0502020204030204" pitchFamily="34" charset="0"/>
              </a:rPr>
              <a:t>Programming:</a:t>
            </a:r>
            <a:r>
              <a:rPr lang="en-IN" sz="1500">
                <a:solidFill>
                  <a:srgbClr val="595959"/>
                </a:solidFill>
                <a:latin typeface="Calibri" panose="020F0502020204030204" pitchFamily="34" charset="0"/>
              </a:rPr>
              <a:t> Java (JDK 21)</a:t>
            </a:r>
          </a:p>
          <a:p>
            <a:pPr marL="279400" indent="-279400">
              <a:spcAft>
                <a:spcPts val="400"/>
              </a:spcAft>
              <a:buClr>
                <a:srgbClr val="17396B"/>
              </a:buClr>
              <a:buSzPct val="75000"/>
              <a:buFont typeface="+mj-lt"/>
              <a:buChar char="▶"/>
            </a:pPr>
            <a:r>
              <a:rPr lang="en-IN" sz="1500">
                <a:solidFill>
                  <a:srgbClr val="1B1B1B"/>
                </a:solidFill>
                <a:latin typeface="Calibri" panose="020F0502020204030204" pitchFamily="34" charset="0"/>
              </a:rPr>
              <a:t>Web:</a:t>
            </a:r>
            <a:r>
              <a:rPr lang="en-IN" sz="1500">
                <a:solidFill>
                  <a:srgbClr val="595959"/>
                </a:solidFill>
                <a:latin typeface="Calibri" panose="020F0502020204030204" pitchFamily="34" charset="0"/>
              </a:rPr>
              <a:t> JSP, JSTL, HTML, CSS, JavaScript</a:t>
            </a:r>
          </a:p>
          <a:p>
            <a:pPr marL="279400" indent="-279400">
              <a:spcAft>
                <a:spcPts val="400"/>
              </a:spcAft>
              <a:buClr>
                <a:srgbClr val="17396B"/>
              </a:buClr>
              <a:buSzPct val="75000"/>
              <a:buFont typeface="+mj-lt"/>
              <a:buChar char="▶"/>
            </a:pPr>
            <a:r>
              <a:rPr lang="en-IN" sz="1500">
                <a:solidFill>
                  <a:srgbClr val="1B1B1B"/>
                </a:solidFill>
                <a:latin typeface="Calibri" panose="020F0502020204030204" pitchFamily="34" charset="0"/>
              </a:rPr>
              <a:t>Backend:</a:t>
            </a:r>
            <a:r>
              <a:rPr lang="en-IN" sz="1500">
                <a:solidFill>
                  <a:srgbClr val="595959"/>
                </a:solidFill>
                <a:latin typeface="Calibri" panose="020F0502020204030204" pitchFamily="34" charset="0"/>
              </a:rPr>
              <a:t> Jakarta Servlets</a:t>
            </a:r>
          </a:p>
          <a:p>
            <a:pPr marL="279400" indent="-279400">
              <a:spcAft>
                <a:spcPts val="400"/>
              </a:spcAft>
              <a:buClr>
                <a:srgbClr val="17396B"/>
              </a:buClr>
              <a:buSzPct val="75000"/>
              <a:buFont typeface="+mj-lt"/>
              <a:buChar char="▶"/>
            </a:pPr>
            <a:r>
              <a:rPr lang="en-IN" sz="1500">
                <a:solidFill>
                  <a:srgbClr val="1B1B1B"/>
                </a:solidFill>
                <a:latin typeface="Calibri" panose="020F0502020204030204" pitchFamily="34" charset="0"/>
              </a:rPr>
              <a:t>Database:</a:t>
            </a:r>
            <a:r>
              <a:rPr lang="en-IN" sz="1500">
                <a:solidFill>
                  <a:srgbClr val="595959"/>
                </a:solidFill>
                <a:latin typeface="Calibri" panose="020F0502020204030204" pitchFamily="34" charset="0"/>
              </a:rPr>
              <a:t> MariaDB (MySQL-compatible), JDBC</a:t>
            </a:r>
          </a:p>
          <a:p>
            <a:pPr marL="279400" indent="-279400">
              <a:spcAft>
                <a:spcPts val="400"/>
              </a:spcAft>
              <a:buClr>
                <a:srgbClr val="17396B"/>
              </a:buClr>
              <a:buSzPct val="75000"/>
              <a:buFont typeface="+mj-lt"/>
              <a:buChar char="▶"/>
            </a:pPr>
            <a:r>
              <a:rPr lang="en-IN" sz="1500">
                <a:solidFill>
                  <a:srgbClr val="1B1B1B"/>
                </a:solidFill>
                <a:latin typeface="Calibri" panose="020F0502020204030204" pitchFamily="34" charset="0"/>
              </a:rPr>
              <a:t>Server / Build:</a:t>
            </a:r>
            <a:r>
              <a:rPr lang="en-IN" sz="1500">
                <a:solidFill>
                  <a:srgbClr val="595959"/>
                </a:solidFill>
                <a:latin typeface="Calibri" panose="020F0502020204030204" pitchFamily="34" charset="0"/>
              </a:rPr>
              <a:t> Tomcat 10.1.60, Maven</a:t>
            </a:r>
          </a:p>
          <a:p>
            <a:pPr marL="279400" indent="-279400">
              <a:spcAft>
                <a:spcPts val="400"/>
              </a:spcAft>
              <a:buClr>
                <a:srgbClr val="17396B"/>
              </a:buClr>
              <a:buSzPct val="75000"/>
              <a:buFont typeface="+mj-lt"/>
              <a:buChar char="▶"/>
            </a:pPr>
            <a:r>
              <a:rPr lang="en-IN" sz="1500">
                <a:solidFill>
                  <a:srgbClr val="1B1B1B"/>
                </a:solidFill>
                <a:latin typeface="Calibri" panose="020F0502020204030204" pitchFamily="34" charset="0"/>
              </a:rPr>
              <a:t>IDE:</a:t>
            </a:r>
            <a:r>
              <a:rPr lang="en-IN" sz="1500">
                <a:solidFill>
                  <a:srgbClr val="595959"/>
                </a:solidFill>
                <a:latin typeface="Calibri" panose="020F0502020204030204" pitchFamily="34" charset="0"/>
              </a:rPr>
              <a:t> Visual Studio Code</a:t>
            </a:r>
          </a:p>
          <a:p>
            <a:pPr marL="279400" indent="-279400">
              <a:spcAft>
                <a:spcPts val="400"/>
              </a:spcAft>
              <a:buClr>
                <a:srgbClr val="17396B"/>
              </a:buClr>
              <a:buSzPct val="75000"/>
              <a:buFont typeface="+mj-lt"/>
              <a:buChar char="▶"/>
            </a:pPr>
            <a:r>
              <a:rPr lang="en-IN" sz="1500">
                <a:solidFill>
                  <a:srgbClr val="1B1B1B"/>
                </a:solidFill>
                <a:latin typeface="Calibri" panose="020F0502020204030204" pitchFamily="34" charset="0"/>
              </a:rPr>
              <a:t>Version Control:</a:t>
            </a:r>
            <a:r>
              <a:rPr lang="en-IN" sz="1500">
                <a:solidFill>
                  <a:srgbClr val="595959"/>
                </a:solidFill>
                <a:latin typeface="Calibri" panose="020F0502020204030204" pitchFamily="34" charset="0"/>
              </a:rPr>
              <a:t> Git / GitHub</a:t>
            </a:r>
          </a:p>
        </p:txBody>
      </p:sp>
      <p:sp>
        <p:nvSpPr>
          <p:cNvPr id="11" name="Rectangle: Rounded Corners 10">
            <a:extLst>
              <a:ext uri="{FF2B5EF4-FFF2-40B4-BE49-F238E27FC236}">
                <a16:creationId xmlns:a16="http://schemas.microsoft.com/office/drawing/2014/main" id="{1758B284-A51D-7D8A-64A1-A978062D6C32}"/>
              </a:ext>
            </a:extLst>
          </p:cNvPr>
          <p:cNvSpPr/>
          <p:nvPr/>
        </p:nvSpPr>
        <p:spPr>
          <a:xfrm>
            <a:off x="6248400" y="1676400"/>
            <a:ext cx="5308600" cy="3200400"/>
          </a:xfrm>
          <a:prstGeom prst="roundRect">
            <a:avLst>
              <a:gd name="adj" fmla="val 3968"/>
            </a:avLst>
          </a:prstGeom>
          <a:solidFill>
            <a:srgbClr val="EAF1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0B6E597-D2EB-A5FA-B1F5-87FA85820172}"/>
              </a:ext>
            </a:extLst>
          </p:cNvPr>
          <p:cNvSpPr txBox="1"/>
          <p:nvPr/>
        </p:nvSpPr>
        <p:spPr>
          <a:xfrm>
            <a:off x="6451600" y="1803400"/>
            <a:ext cx="4953000" cy="369332"/>
          </a:xfrm>
          <a:prstGeom prst="rect">
            <a:avLst/>
          </a:prstGeom>
          <a:noFill/>
        </p:spPr>
        <p:txBody>
          <a:bodyPr vert="horz" wrap="square" lIns="0" tIns="0" rIns="0" bIns="0" rtlCol="0">
            <a:noAutofit/>
          </a:bodyPr>
          <a:lstStyle/>
          <a:p>
            <a:r>
              <a:rPr lang="en-IN" sz="2000">
                <a:solidFill>
                  <a:srgbClr val="17396B"/>
                </a:solidFill>
                <a:latin typeface="Calibri" panose="020F0502020204030204" pitchFamily="34" charset="0"/>
              </a:rPr>
              <a:t>Development Methodology</a:t>
            </a:r>
          </a:p>
        </p:txBody>
      </p:sp>
      <p:sp>
        <p:nvSpPr>
          <p:cNvPr id="13" name="TextBox 12">
            <a:extLst>
              <a:ext uri="{FF2B5EF4-FFF2-40B4-BE49-F238E27FC236}">
                <a16:creationId xmlns:a16="http://schemas.microsoft.com/office/drawing/2014/main" id="{26F2F506-AC8D-1146-3A42-527DC12AA5C0}"/>
              </a:ext>
            </a:extLst>
          </p:cNvPr>
          <p:cNvSpPr txBox="1"/>
          <p:nvPr/>
        </p:nvSpPr>
        <p:spPr>
          <a:xfrm>
            <a:off x="6451600" y="2286000"/>
            <a:ext cx="4953000" cy="369332"/>
          </a:xfrm>
          <a:prstGeom prst="rect">
            <a:avLst/>
          </a:prstGeom>
          <a:noFill/>
        </p:spPr>
        <p:txBody>
          <a:bodyPr vert="horz" wrap="square" lIns="0" tIns="0" rIns="0" bIns="0" rtlCol="0">
            <a:noAutofit/>
          </a:bodyPr>
          <a:lstStyle/>
          <a:p>
            <a:pPr marL="279400" indent="-279400">
              <a:spcAft>
                <a:spcPts val="900"/>
              </a:spcAft>
              <a:buClr>
                <a:srgbClr val="17396B"/>
              </a:buClr>
              <a:buFont typeface="+mj-lt"/>
              <a:buAutoNum type="arabicPeriod"/>
            </a:pPr>
            <a:r>
              <a:rPr lang="en-IN" sz="1700">
                <a:solidFill>
                  <a:srgbClr val="1B1B1B"/>
                </a:solidFill>
                <a:latin typeface="Calibri" panose="020F0502020204030204" pitchFamily="34" charset="0"/>
              </a:rPr>
              <a:t>Requirement Analysis</a:t>
            </a:r>
          </a:p>
          <a:p>
            <a:pPr marL="279400" indent="-279400">
              <a:spcAft>
                <a:spcPts val="900"/>
              </a:spcAft>
              <a:buClr>
                <a:srgbClr val="17396B"/>
              </a:buClr>
              <a:buFont typeface="+mj-lt"/>
              <a:buAutoNum type="arabicPeriod"/>
            </a:pPr>
            <a:r>
              <a:rPr lang="en-IN" sz="1700">
                <a:solidFill>
                  <a:srgbClr val="1B1B1B"/>
                </a:solidFill>
                <a:latin typeface="Calibri" panose="020F0502020204030204" pitchFamily="34" charset="0"/>
              </a:rPr>
              <a:t>System Design</a:t>
            </a:r>
          </a:p>
          <a:p>
            <a:pPr marL="279400" indent="-279400">
              <a:spcAft>
                <a:spcPts val="900"/>
              </a:spcAft>
              <a:buClr>
                <a:srgbClr val="17396B"/>
              </a:buClr>
              <a:buFont typeface="+mj-lt"/>
              <a:buAutoNum type="arabicPeriod"/>
            </a:pPr>
            <a:r>
              <a:rPr lang="en-IN" sz="1700">
                <a:solidFill>
                  <a:srgbClr val="1B1B1B"/>
                </a:solidFill>
                <a:latin typeface="Calibri" panose="020F0502020204030204" pitchFamily="34" charset="0"/>
              </a:rPr>
              <a:t>Implementation</a:t>
            </a:r>
          </a:p>
          <a:p>
            <a:pPr marL="279400" indent="-279400">
              <a:spcAft>
                <a:spcPts val="900"/>
              </a:spcAft>
              <a:buClr>
                <a:srgbClr val="17396B"/>
              </a:buClr>
              <a:buFont typeface="+mj-lt"/>
              <a:buAutoNum type="arabicPeriod"/>
            </a:pPr>
            <a:r>
              <a:rPr lang="en-IN" sz="1700">
                <a:solidFill>
                  <a:srgbClr val="1B1B1B"/>
                </a:solidFill>
                <a:latin typeface="Calibri" panose="020F0502020204030204" pitchFamily="34" charset="0"/>
              </a:rPr>
              <a:t>Testing</a:t>
            </a:r>
          </a:p>
          <a:p>
            <a:pPr marL="279400" indent="-279400">
              <a:spcAft>
                <a:spcPts val="900"/>
              </a:spcAft>
              <a:buClr>
                <a:srgbClr val="17396B"/>
              </a:buClr>
              <a:buFont typeface="+mj-lt"/>
              <a:buAutoNum type="arabicPeriod"/>
            </a:pPr>
            <a:r>
              <a:rPr lang="en-IN" sz="1700">
                <a:solidFill>
                  <a:srgbClr val="1B1B1B"/>
                </a:solidFill>
                <a:latin typeface="Calibri" panose="020F0502020204030204" pitchFamily="34" charset="0"/>
              </a:rPr>
              <a:t>Evaluation</a:t>
            </a:r>
          </a:p>
        </p:txBody>
      </p:sp>
      <p:sp>
        <p:nvSpPr>
          <p:cNvPr id="14" name="TextBox 13">
            <a:extLst>
              <a:ext uri="{FF2B5EF4-FFF2-40B4-BE49-F238E27FC236}">
                <a16:creationId xmlns:a16="http://schemas.microsoft.com/office/drawing/2014/main" id="{B06BC342-9452-72D1-26DF-A0CF6EF20EE7}"/>
              </a:ext>
            </a:extLst>
          </p:cNvPr>
          <p:cNvSpPr txBox="1"/>
          <p:nvPr/>
        </p:nvSpPr>
        <p:spPr>
          <a:xfrm>
            <a:off x="698500" y="5207000"/>
            <a:ext cx="10795000" cy="369332"/>
          </a:xfrm>
          <a:prstGeom prst="rect">
            <a:avLst/>
          </a:prstGeom>
          <a:noFill/>
        </p:spPr>
        <p:txBody>
          <a:bodyPr vert="horz" wrap="square" lIns="0" tIns="0" rIns="0" bIns="0" rtlCol="0">
            <a:noAutofit/>
          </a:bodyPr>
          <a:lstStyle/>
          <a:p>
            <a:pPr algn="ctr"/>
            <a:r>
              <a:rPr lang="en-US" sz="1400">
                <a:solidFill>
                  <a:srgbClr val="595959"/>
                </a:solidFill>
                <a:latin typeface="Calibri" panose="020F0502020204030204" pitchFamily="34" charset="0"/>
              </a:rPr>
              <a:t>Chosen to match the Phase-I proposal (Java, JSP, Servlets, JDBC, MySQL, Tomcat, MVC) and to keep every layer simple to explain. Each module was built and tested before the next.</a:t>
            </a:r>
            <a:endParaRPr lang="en-IN" sz="1400">
              <a:solidFill>
                <a:srgbClr val="595959"/>
              </a:solidFill>
              <a:latin typeface="Calibri" panose="020F0502020204030204" pitchFamily="34" charset="0"/>
            </a:endParaRPr>
          </a:p>
        </p:txBody>
      </p:sp>
    </p:spTree>
    <p:extLst>
      <p:ext uri="{BB962C8B-B14F-4D97-AF65-F5344CB8AC3E}">
        <p14:creationId xmlns:p14="http://schemas.microsoft.com/office/powerpoint/2010/main" val="43626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FC164-1414-1C1A-6E2E-4B0E8E82E4C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41100" y="177800"/>
            <a:ext cx="584200" cy="584200"/>
          </a:xfrm>
          <a:prstGeom prst="rect">
            <a:avLst/>
          </a:prstGeom>
        </p:spPr>
      </p:pic>
      <p:sp>
        <p:nvSpPr>
          <p:cNvPr id="4" name="Title">
            <a:extLst>
              <a:ext uri="{FF2B5EF4-FFF2-40B4-BE49-F238E27FC236}">
                <a16:creationId xmlns:a16="http://schemas.microsoft.com/office/drawing/2014/main" id="{9B210B8A-0712-00D8-0698-BF88ADEB1027}"/>
              </a:ext>
            </a:extLst>
          </p:cNvPr>
          <p:cNvSpPr txBox="1"/>
          <p:nvPr/>
        </p:nvSpPr>
        <p:spPr>
          <a:xfrm>
            <a:off x="698500" y="482600"/>
            <a:ext cx="10414000" cy="369332"/>
          </a:xfrm>
          <a:prstGeom prst="rect">
            <a:avLst/>
          </a:prstGeom>
          <a:noFill/>
        </p:spPr>
        <p:txBody>
          <a:bodyPr vert="horz" wrap="square" lIns="0" tIns="0" rIns="0" bIns="0" rtlCol="0">
            <a:noAutofit/>
          </a:bodyPr>
          <a:lstStyle/>
          <a:p>
            <a:r>
              <a:rPr lang="en-IN" sz="3000" b="1">
                <a:solidFill>
                  <a:srgbClr val="17396B"/>
                </a:solidFill>
                <a:latin typeface="Calibri" panose="020F0502020204030204" pitchFamily="34" charset="0"/>
              </a:rPr>
              <a:t>Initial Progress &amp; Team Contribution</a:t>
            </a:r>
          </a:p>
        </p:txBody>
      </p:sp>
      <p:cxnSp>
        <p:nvCxnSpPr>
          <p:cNvPr id="5" name="Straight Connector 4">
            <a:extLst>
              <a:ext uri="{FF2B5EF4-FFF2-40B4-BE49-F238E27FC236}">
                <a16:creationId xmlns:a16="http://schemas.microsoft.com/office/drawing/2014/main" id="{EFE855E7-384B-7640-6530-3850B2A7B7E2}"/>
              </a:ext>
            </a:extLst>
          </p:cNvPr>
          <p:cNvCxnSpPr/>
          <p:nvPr/>
        </p:nvCxnSpPr>
        <p:spPr>
          <a:xfrm>
            <a:off x="698500" y="1320800"/>
            <a:ext cx="10795000" cy="0"/>
          </a:xfrm>
          <a:prstGeom prst="line">
            <a:avLst/>
          </a:prstGeom>
          <a:ln w="22225">
            <a:solidFill>
              <a:srgbClr val="17396B"/>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A223E15-3DE0-B683-7D74-73F144528D40}"/>
              </a:ext>
            </a:extLst>
          </p:cNvPr>
          <p:cNvSpPr txBox="1"/>
          <p:nvPr/>
        </p:nvSpPr>
        <p:spPr>
          <a:xfrm>
            <a:off x="228600" y="6502400"/>
            <a:ext cx="8890000" cy="369332"/>
          </a:xfrm>
          <a:prstGeom prst="rect">
            <a:avLst/>
          </a:prstGeom>
          <a:noFill/>
        </p:spPr>
        <p:txBody>
          <a:bodyPr vert="horz" wrap="square" lIns="0" tIns="0" rIns="0" bIns="0" rtlCol="0">
            <a:noAutofit/>
          </a:bodyPr>
          <a:lstStyle/>
          <a:p>
            <a:r>
              <a:rPr lang="en-US" sz="1050">
                <a:solidFill>
                  <a:srgbClr val="17396B"/>
                </a:solidFill>
                <a:latin typeface="Calibri" panose="020F0502020204030204" pitchFamily="34" charset="0"/>
              </a:rPr>
              <a:t>Department of Computer Science &amp; Engineering — Graphic Era (Deemed to be University)</a:t>
            </a:r>
            <a:endParaRPr lang="en-IN" sz="1050">
              <a:solidFill>
                <a:srgbClr val="17396B"/>
              </a:solidFill>
              <a:latin typeface="Calibri" panose="020F0502020204030204" pitchFamily="34" charset="0"/>
            </a:endParaRPr>
          </a:p>
        </p:txBody>
      </p:sp>
      <p:sp>
        <p:nvSpPr>
          <p:cNvPr id="7" name="TextBox 6">
            <a:extLst>
              <a:ext uri="{FF2B5EF4-FFF2-40B4-BE49-F238E27FC236}">
                <a16:creationId xmlns:a16="http://schemas.microsoft.com/office/drawing/2014/main" id="{50C70CD6-951A-602E-72FB-0CE593B7D2D6}"/>
              </a:ext>
            </a:extLst>
          </p:cNvPr>
          <p:cNvSpPr txBox="1"/>
          <p:nvPr/>
        </p:nvSpPr>
        <p:spPr>
          <a:xfrm>
            <a:off x="11049000" y="6502400"/>
            <a:ext cx="914400" cy="369332"/>
          </a:xfrm>
          <a:prstGeom prst="rect">
            <a:avLst/>
          </a:prstGeom>
          <a:noFill/>
        </p:spPr>
        <p:txBody>
          <a:bodyPr vert="horz" wrap="square" lIns="0" tIns="0" rIns="0" bIns="0" rtlCol="0">
            <a:noAutofit/>
          </a:bodyPr>
          <a:lstStyle/>
          <a:p>
            <a:pPr algn="r"/>
            <a:r>
              <a:rPr lang="en-IN" sz="1050">
                <a:solidFill>
                  <a:srgbClr val="1B1B1B"/>
                </a:solidFill>
                <a:latin typeface="Calibri" panose="020F0502020204030204" pitchFamily="34" charset="0"/>
              </a:rPr>
              <a:t>9/10</a:t>
            </a:r>
          </a:p>
        </p:txBody>
      </p:sp>
      <p:sp>
        <p:nvSpPr>
          <p:cNvPr id="8" name="TextBox 7">
            <a:extLst>
              <a:ext uri="{FF2B5EF4-FFF2-40B4-BE49-F238E27FC236}">
                <a16:creationId xmlns:a16="http://schemas.microsoft.com/office/drawing/2014/main" id="{E7E1A77E-68B5-4341-D0FB-B83DA9B912E0}"/>
              </a:ext>
            </a:extLst>
          </p:cNvPr>
          <p:cNvSpPr txBox="1"/>
          <p:nvPr/>
        </p:nvSpPr>
        <p:spPr>
          <a:xfrm>
            <a:off x="698500" y="1574800"/>
            <a:ext cx="5080000" cy="369332"/>
          </a:xfrm>
          <a:prstGeom prst="rect">
            <a:avLst/>
          </a:prstGeom>
          <a:noFill/>
        </p:spPr>
        <p:txBody>
          <a:bodyPr vert="horz" wrap="square" lIns="0" tIns="0" rIns="0" bIns="0" rtlCol="0">
            <a:noAutofit/>
          </a:bodyPr>
          <a:lstStyle/>
          <a:p>
            <a:r>
              <a:rPr lang="en-IN" sz="2000" b="1">
                <a:solidFill>
                  <a:srgbClr val="17396B"/>
                </a:solidFill>
                <a:latin typeface="Calibri" panose="020F0502020204030204" pitchFamily="34" charset="0"/>
              </a:rPr>
              <a:t>Progress Achieved</a:t>
            </a:r>
          </a:p>
        </p:txBody>
      </p:sp>
      <p:sp>
        <p:nvSpPr>
          <p:cNvPr id="9" name="TextBox 8">
            <a:extLst>
              <a:ext uri="{FF2B5EF4-FFF2-40B4-BE49-F238E27FC236}">
                <a16:creationId xmlns:a16="http://schemas.microsoft.com/office/drawing/2014/main" id="{23025E10-A324-54F1-F996-454095469557}"/>
              </a:ext>
            </a:extLst>
          </p:cNvPr>
          <p:cNvSpPr txBox="1"/>
          <p:nvPr/>
        </p:nvSpPr>
        <p:spPr>
          <a:xfrm>
            <a:off x="698500" y="2032000"/>
            <a:ext cx="5080000" cy="369332"/>
          </a:xfrm>
          <a:prstGeom prst="rect">
            <a:avLst/>
          </a:prstGeom>
          <a:noFill/>
        </p:spPr>
        <p:txBody>
          <a:bodyPr vert="horz" wrap="square" lIns="0" tIns="0" rIns="0" bIns="0" rtlCol="0">
            <a:noAutofit/>
          </a:bodyPr>
          <a:lstStyle/>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Proposal, architecture and Maven project</a:t>
            </a:r>
          </a:p>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Database schema (users, items)</a:t>
            </a:r>
          </a:p>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Modules 1–3 implemented (commit 2bde66b)</a:t>
            </a:r>
          </a:p>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23 / 23 unit tests passing</a:t>
            </a:r>
          </a:p>
          <a:p>
            <a:pPr marL="279400" indent="-279400">
              <a:spcAft>
                <a:spcPts val="600"/>
              </a:spcAft>
              <a:buClr>
                <a:srgbClr val="17396B"/>
              </a:buClr>
              <a:buSzPct val="75000"/>
              <a:buFont typeface="+mj-lt"/>
              <a:buChar char="▶"/>
            </a:pPr>
            <a:r>
              <a:rPr lang="en-US" sz="1600">
                <a:solidFill>
                  <a:srgbClr val="1B1B1B"/>
                </a:solidFill>
                <a:latin typeface="Calibri" panose="020F0502020204030204" pitchFamily="34" charset="0"/>
              </a:rPr>
              <a:t>Tomcat cold start and DB connectivity verified</a:t>
            </a:r>
            <a:endParaRPr lang="en-IN" sz="1600">
              <a:solidFill>
                <a:srgbClr val="1B1B1B"/>
              </a:solidFill>
              <a:latin typeface="Calibri" panose="020F0502020204030204" pitchFamily="34" charset="0"/>
            </a:endParaRPr>
          </a:p>
        </p:txBody>
      </p:sp>
      <p:sp>
        <p:nvSpPr>
          <p:cNvPr id="10" name="TextBox 9">
            <a:extLst>
              <a:ext uri="{FF2B5EF4-FFF2-40B4-BE49-F238E27FC236}">
                <a16:creationId xmlns:a16="http://schemas.microsoft.com/office/drawing/2014/main" id="{E9E74BB0-3D2F-4202-C6F6-D55E5F55BEC5}"/>
              </a:ext>
            </a:extLst>
          </p:cNvPr>
          <p:cNvSpPr txBox="1"/>
          <p:nvPr/>
        </p:nvSpPr>
        <p:spPr>
          <a:xfrm>
            <a:off x="6223000" y="1574800"/>
            <a:ext cx="5334000" cy="369332"/>
          </a:xfrm>
          <a:prstGeom prst="rect">
            <a:avLst/>
          </a:prstGeom>
          <a:noFill/>
        </p:spPr>
        <p:txBody>
          <a:bodyPr vert="horz" wrap="square" lIns="0" tIns="0" rIns="0" bIns="0" rtlCol="0">
            <a:noAutofit/>
          </a:bodyPr>
          <a:lstStyle/>
          <a:p>
            <a:r>
              <a:rPr lang="en-IN" sz="2000" b="1">
                <a:solidFill>
                  <a:srgbClr val="17396B"/>
                </a:solidFill>
                <a:latin typeface="Calibri" panose="020F0502020204030204" pitchFamily="34" charset="0"/>
              </a:rPr>
              <a:t>Individual Contribution</a:t>
            </a:r>
          </a:p>
        </p:txBody>
      </p:sp>
      <p:cxnSp>
        <p:nvCxnSpPr>
          <p:cNvPr id="11" name="Straight Connector 10">
            <a:extLst>
              <a:ext uri="{FF2B5EF4-FFF2-40B4-BE49-F238E27FC236}">
                <a16:creationId xmlns:a16="http://schemas.microsoft.com/office/drawing/2014/main" id="{BC845051-505D-5E31-BC8C-D3C0280911AE}"/>
              </a:ext>
            </a:extLst>
          </p:cNvPr>
          <p:cNvCxnSpPr/>
          <p:nvPr/>
        </p:nvCxnSpPr>
        <p:spPr>
          <a:xfrm>
            <a:off x="6223000" y="2006600"/>
            <a:ext cx="5334000" cy="0"/>
          </a:xfrm>
          <a:prstGeom prst="line">
            <a:avLst/>
          </a:prstGeom>
          <a:ln w="22225">
            <a:solidFill>
              <a:srgbClr val="1B1B1B"/>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4A0B389-4A6E-4795-DCCA-FFF1A37E9BCC}"/>
              </a:ext>
            </a:extLst>
          </p:cNvPr>
          <p:cNvSpPr txBox="1"/>
          <p:nvPr/>
        </p:nvSpPr>
        <p:spPr>
          <a:xfrm>
            <a:off x="6223000" y="2082800"/>
            <a:ext cx="1397000" cy="369332"/>
          </a:xfrm>
          <a:prstGeom prst="rect">
            <a:avLst/>
          </a:prstGeom>
          <a:noFill/>
        </p:spPr>
        <p:txBody>
          <a:bodyPr vert="horz" wrap="square" lIns="0" tIns="0" rIns="0" bIns="0" rtlCol="0">
            <a:noAutofit/>
          </a:bodyPr>
          <a:lstStyle/>
          <a:p>
            <a:r>
              <a:rPr lang="en-IN" sz="1400" b="1">
                <a:solidFill>
                  <a:srgbClr val="1B1B1B"/>
                </a:solidFill>
                <a:latin typeface="Calibri" panose="020F0502020204030204" pitchFamily="34" charset="0"/>
              </a:rPr>
              <a:t>Member</a:t>
            </a:r>
          </a:p>
        </p:txBody>
      </p:sp>
      <p:sp>
        <p:nvSpPr>
          <p:cNvPr id="13" name="TextBox 12">
            <a:extLst>
              <a:ext uri="{FF2B5EF4-FFF2-40B4-BE49-F238E27FC236}">
                <a16:creationId xmlns:a16="http://schemas.microsoft.com/office/drawing/2014/main" id="{51C5D6F5-02BA-6911-202C-24A09F2AF0B3}"/>
              </a:ext>
            </a:extLst>
          </p:cNvPr>
          <p:cNvSpPr txBox="1"/>
          <p:nvPr/>
        </p:nvSpPr>
        <p:spPr>
          <a:xfrm>
            <a:off x="7620000" y="2082800"/>
            <a:ext cx="1143000" cy="369332"/>
          </a:xfrm>
          <a:prstGeom prst="rect">
            <a:avLst/>
          </a:prstGeom>
          <a:noFill/>
        </p:spPr>
        <p:txBody>
          <a:bodyPr vert="horz" wrap="square" lIns="0" tIns="0" rIns="0" bIns="0" rtlCol="0">
            <a:noAutofit/>
          </a:bodyPr>
          <a:lstStyle/>
          <a:p>
            <a:r>
              <a:rPr lang="en-IN" sz="1400" b="1">
                <a:solidFill>
                  <a:srgbClr val="1B1B1B"/>
                </a:solidFill>
                <a:latin typeface="Calibri" panose="020F0502020204030204" pitchFamily="34" charset="0"/>
              </a:rPr>
              <a:t>Role</a:t>
            </a:r>
          </a:p>
        </p:txBody>
      </p:sp>
      <p:sp>
        <p:nvSpPr>
          <p:cNvPr id="14" name="TextBox 13">
            <a:extLst>
              <a:ext uri="{FF2B5EF4-FFF2-40B4-BE49-F238E27FC236}">
                <a16:creationId xmlns:a16="http://schemas.microsoft.com/office/drawing/2014/main" id="{1EDB4D4B-5A98-6E41-D11C-5A7587882817}"/>
              </a:ext>
            </a:extLst>
          </p:cNvPr>
          <p:cNvSpPr txBox="1"/>
          <p:nvPr/>
        </p:nvSpPr>
        <p:spPr>
          <a:xfrm>
            <a:off x="8763000" y="2082800"/>
            <a:ext cx="2794000" cy="369332"/>
          </a:xfrm>
          <a:prstGeom prst="rect">
            <a:avLst/>
          </a:prstGeom>
          <a:noFill/>
        </p:spPr>
        <p:txBody>
          <a:bodyPr vert="horz" wrap="square" lIns="0" tIns="0" rIns="0" bIns="0" rtlCol="0">
            <a:noAutofit/>
          </a:bodyPr>
          <a:lstStyle/>
          <a:p>
            <a:r>
              <a:rPr lang="en-IN" sz="1400" b="1">
                <a:solidFill>
                  <a:srgbClr val="1B1B1B"/>
                </a:solidFill>
                <a:latin typeface="Calibri" panose="020F0502020204030204" pitchFamily="34" charset="0"/>
              </a:rPr>
              <a:t>Contribution</a:t>
            </a:r>
          </a:p>
        </p:txBody>
      </p:sp>
      <p:cxnSp>
        <p:nvCxnSpPr>
          <p:cNvPr id="15" name="Straight Connector 14">
            <a:extLst>
              <a:ext uri="{FF2B5EF4-FFF2-40B4-BE49-F238E27FC236}">
                <a16:creationId xmlns:a16="http://schemas.microsoft.com/office/drawing/2014/main" id="{BC7887A5-329E-EECE-4C71-0FC07814D6D7}"/>
              </a:ext>
            </a:extLst>
          </p:cNvPr>
          <p:cNvCxnSpPr/>
          <p:nvPr/>
        </p:nvCxnSpPr>
        <p:spPr>
          <a:xfrm>
            <a:off x="6223000" y="2387600"/>
            <a:ext cx="5334000" cy="0"/>
          </a:xfrm>
          <a:prstGeom prst="line">
            <a:avLst/>
          </a:prstGeom>
          <a:ln w="9525">
            <a:solidFill>
              <a:srgbClr val="1B1B1B"/>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7A9FAC9-93FD-D296-0571-6F662B36AB8D}"/>
              </a:ext>
            </a:extLst>
          </p:cNvPr>
          <p:cNvSpPr txBox="1"/>
          <p:nvPr/>
        </p:nvSpPr>
        <p:spPr>
          <a:xfrm>
            <a:off x="6223000" y="2489200"/>
            <a:ext cx="1397000" cy="369332"/>
          </a:xfrm>
          <a:prstGeom prst="rect">
            <a:avLst/>
          </a:prstGeom>
          <a:noFill/>
        </p:spPr>
        <p:txBody>
          <a:bodyPr vert="horz" wrap="square" lIns="0" tIns="0" rIns="0" bIns="0" rtlCol="0">
            <a:noAutofit/>
          </a:bodyPr>
          <a:lstStyle/>
          <a:p>
            <a:r>
              <a:rPr lang="en-IN" sz="1300">
                <a:solidFill>
                  <a:srgbClr val="1B1B1B"/>
                </a:solidFill>
                <a:latin typeface="Calibri" panose="020F0502020204030204" pitchFamily="34" charset="0"/>
              </a:rPr>
              <a:t>Kartik Maithani</a:t>
            </a:r>
          </a:p>
        </p:txBody>
      </p:sp>
      <p:sp>
        <p:nvSpPr>
          <p:cNvPr id="17" name="TextBox 16">
            <a:extLst>
              <a:ext uri="{FF2B5EF4-FFF2-40B4-BE49-F238E27FC236}">
                <a16:creationId xmlns:a16="http://schemas.microsoft.com/office/drawing/2014/main" id="{9ED8F0F5-EE5A-C930-FFD2-46A95F94120D}"/>
              </a:ext>
            </a:extLst>
          </p:cNvPr>
          <p:cNvSpPr txBox="1"/>
          <p:nvPr/>
        </p:nvSpPr>
        <p:spPr>
          <a:xfrm>
            <a:off x="7620000" y="2489200"/>
            <a:ext cx="1143000" cy="369332"/>
          </a:xfrm>
          <a:prstGeom prst="rect">
            <a:avLst/>
          </a:prstGeom>
          <a:noFill/>
        </p:spPr>
        <p:txBody>
          <a:bodyPr vert="horz" wrap="square" lIns="0" tIns="0" rIns="0" bIns="0" rtlCol="0">
            <a:noAutofit/>
          </a:bodyPr>
          <a:lstStyle/>
          <a:p>
            <a:r>
              <a:rPr lang="en-IN" sz="1300">
                <a:solidFill>
                  <a:srgbClr val="1B1B1B"/>
                </a:solidFill>
                <a:latin typeface="Calibri" panose="020F0502020204030204" pitchFamily="34" charset="0"/>
              </a:rPr>
              <a:t>Team Lead</a:t>
            </a:r>
          </a:p>
        </p:txBody>
      </p:sp>
      <p:sp>
        <p:nvSpPr>
          <p:cNvPr id="18" name="TextBox 17">
            <a:extLst>
              <a:ext uri="{FF2B5EF4-FFF2-40B4-BE49-F238E27FC236}">
                <a16:creationId xmlns:a16="http://schemas.microsoft.com/office/drawing/2014/main" id="{1DC94696-A3D1-442F-D821-3AED4BBAC011}"/>
              </a:ext>
            </a:extLst>
          </p:cNvPr>
          <p:cNvSpPr txBox="1"/>
          <p:nvPr/>
        </p:nvSpPr>
        <p:spPr>
          <a:xfrm>
            <a:off x="8763000" y="2489200"/>
            <a:ext cx="2794000" cy="369332"/>
          </a:xfrm>
          <a:prstGeom prst="rect">
            <a:avLst/>
          </a:prstGeom>
          <a:noFill/>
        </p:spPr>
        <p:txBody>
          <a:bodyPr vert="horz" wrap="square" lIns="0" tIns="0" rIns="0" bIns="0" rtlCol="0">
            <a:noAutofit/>
          </a:bodyPr>
          <a:lstStyle/>
          <a:p>
            <a:r>
              <a:rPr lang="en-US" sz="1300">
                <a:solidFill>
                  <a:srgbClr val="1B1B1B"/>
                </a:solidFill>
                <a:latin typeface="Calibri" panose="020F0502020204030204" pitchFamily="34" charset="0"/>
              </a:rPr>
              <a:t>Scope &amp; requirements, technology setup, directed and reviewed implementation, testing, Git repository, report</a:t>
            </a:r>
            <a:endParaRPr lang="en-IN" sz="1300">
              <a:solidFill>
                <a:srgbClr val="1B1B1B"/>
              </a:solidFill>
              <a:latin typeface="Calibri" panose="020F0502020204030204" pitchFamily="34" charset="0"/>
            </a:endParaRPr>
          </a:p>
        </p:txBody>
      </p:sp>
      <p:sp>
        <p:nvSpPr>
          <p:cNvPr id="19" name="TextBox 18">
            <a:extLst>
              <a:ext uri="{FF2B5EF4-FFF2-40B4-BE49-F238E27FC236}">
                <a16:creationId xmlns:a16="http://schemas.microsoft.com/office/drawing/2014/main" id="{54241A30-7BF2-4801-4BAD-8553DEE9C6AB}"/>
              </a:ext>
            </a:extLst>
          </p:cNvPr>
          <p:cNvSpPr txBox="1"/>
          <p:nvPr/>
        </p:nvSpPr>
        <p:spPr>
          <a:xfrm>
            <a:off x="6223000" y="3327400"/>
            <a:ext cx="1397000" cy="369332"/>
          </a:xfrm>
          <a:prstGeom prst="rect">
            <a:avLst/>
          </a:prstGeom>
          <a:noFill/>
        </p:spPr>
        <p:txBody>
          <a:bodyPr vert="horz" wrap="square" lIns="0" tIns="0" rIns="0" bIns="0" rtlCol="0">
            <a:noAutofit/>
          </a:bodyPr>
          <a:lstStyle/>
          <a:p>
            <a:r>
              <a:rPr lang="en-IN" sz="1300">
                <a:solidFill>
                  <a:srgbClr val="1B1B1B"/>
                </a:solidFill>
                <a:latin typeface="Calibri" panose="020F0502020204030204" pitchFamily="34" charset="0"/>
              </a:rPr>
              <a:t>Mallika Rana</a:t>
            </a:r>
          </a:p>
        </p:txBody>
      </p:sp>
      <p:sp>
        <p:nvSpPr>
          <p:cNvPr id="20" name="TextBox 19">
            <a:extLst>
              <a:ext uri="{FF2B5EF4-FFF2-40B4-BE49-F238E27FC236}">
                <a16:creationId xmlns:a16="http://schemas.microsoft.com/office/drawing/2014/main" id="{05A94138-AED1-50A3-BB45-01B0ADFDC07A}"/>
              </a:ext>
            </a:extLst>
          </p:cNvPr>
          <p:cNvSpPr txBox="1"/>
          <p:nvPr/>
        </p:nvSpPr>
        <p:spPr>
          <a:xfrm>
            <a:off x="7620000" y="3327400"/>
            <a:ext cx="1143000" cy="369332"/>
          </a:xfrm>
          <a:prstGeom prst="rect">
            <a:avLst/>
          </a:prstGeom>
          <a:noFill/>
        </p:spPr>
        <p:txBody>
          <a:bodyPr vert="horz" wrap="square" lIns="0" tIns="0" rIns="0" bIns="0" rtlCol="0">
            <a:noAutofit/>
          </a:bodyPr>
          <a:lstStyle/>
          <a:p>
            <a:r>
              <a:rPr lang="en-IN" sz="1300" b="1">
                <a:solidFill>
                  <a:srgbClr val="B42318"/>
                </a:solidFill>
                <a:latin typeface="Calibri" panose="020F0502020204030204" pitchFamily="34" charset="0"/>
              </a:rPr>
              <a:t>[TO FILL]</a:t>
            </a:r>
          </a:p>
        </p:txBody>
      </p:sp>
      <p:sp>
        <p:nvSpPr>
          <p:cNvPr id="21" name="TextBox 20">
            <a:extLst>
              <a:ext uri="{FF2B5EF4-FFF2-40B4-BE49-F238E27FC236}">
                <a16:creationId xmlns:a16="http://schemas.microsoft.com/office/drawing/2014/main" id="{1EB65093-1814-47AB-DE18-92F54B2BDF9C}"/>
              </a:ext>
            </a:extLst>
          </p:cNvPr>
          <p:cNvSpPr txBox="1"/>
          <p:nvPr/>
        </p:nvSpPr>
        <p:spPr>
          <a:xfrm>
            <a:off x="8763000" y="3327400"/>
            <a:ext cx="2794000" cy="369332"/>
          </a:xfrm>
          <a:prstGeom prst="rect">
            <a:avLst/>
          </a:prstGeom>
          <a:noFill/>
        </p:spPr>
        <p:txBody>
          <a:bodyPr vert="horz" wrap="square" lIns="0" tIns="0" rIns="0" bIns="0" rtlCol="0">
            <a:noAutofit/>
          </a:bodyPr>
          <a:lstStyle/>
          <a:p>
            <a:r>
              <a:rPr lang="en-US" sz="1300" b="1">
                <a:solidFill>
                  <a:srgbClr val="B42318"/>
                </a:solidFill>
                <a:latin typeface="Calibri" panose="020F0502020204030204" pitchFamily="34" charset="0"/>
              </a:rPr>
              <a:t>[TO BE FILLED BY TEAM]</a:t>
            </a:r>
            <a:endParaRPr lang="en-IN" sz="1300" b="1">
              <a:solidFill>
                <a:srgbClr val="B42318"/>
              </a:solidFill>
              <a:latin typeface="Calibri" panose="020F0502020204030204" pitchFamily="34" charset="0"/>
            </a:endParaRPr>
          </a:p>
        </p:txBody>
      </p:sp>
      <p:sp>
        <p:nvSpPr>
          <p:cNvPr id="22" name="TextBox 21">
            <a:extLst>
              <a:ext uri="{FF2B5EF4-FFF2-40B4-BE49-F238E27FC236}">
                <a16:creationId xmlns:a16="http://schemas.microsoft.com/office/drawing/2014/main" id="{CF39FA21-EDF8-7118-0402-C80B9EE0CDA7}"/>
              </a:ext>
            </a:extLst>
          </p:cNvPr>
          <p:cNvSpPr txBox="1"/>
          <p:nvPr/>
        </p:nvSpPr>
        <p:spPr>
          <a:xfrm>
            <a:off x="6223000" y="3784600"/>
            <a:ext cx="1397000" cy="369332"/>
          </a:xfrm>
          <a:prstGeom prst="rect">
            <a:avLst/>
          </a:prstGeom>
          <a:noFill/>
        </p:spPr>
        <p:txBody>
          <a:bodyPr vert="horz" wrap="square" lIns="0" tIns="0" rIns="0" bIns="0" rtlCol="0">
            <a:noAutofit/>
          </a:bodyPr>
          <a:lstStyle/>
          <a:p>
            <a:r>
              <a:rPr lang="en-IN" sz="1300">
                <a:solidFill>
                  <a:srgbClr val="1B1B1B"/>
                </a:solidFill>
                <a:latin typeface="Calibri" panose="020F0502020204030204" pitchFamily="34" charset="0"/>
              </a:rPr>
              <a:t>Dev Parashar</a:t>
            </a:r>
          </a:p>
        </p:txBody>
      </p:sp>
      <p:sp>
        <p:nvSpPr>
          <p:cNvPr id="23" name="TextBox 22">
            <a:extLst>
              <a:ext uri="{FF2B5EF4-FFF2-40B4-BE49-F238E27FC236}">
                <a16:creationId xmlns:a16="http://schemas.microsoft.com/office/drawing/2014/main" id="{50AE0943-65E8-5236-9E3A-F283C949288B}"/>
              </a:ext>
            </a:extLst>
          </p:cNvPr>
          <p:cNvSpPr txBox="1"/>
          <p:nvPr/>
        </p:nvSpPr>
        <p:spPr>
          <a:xfrm>
            <a:off x="7620000" y="3784600"/>
            <a:ext cx="1143000" cy="369332"/>
          </a:xfrm>
          <a:prstGeom prst="rect">
            <a:avLst/>
          </a:prstGeom>
          <a:noFill/>
        </p:spPr>
        <p:txBody>
          <a:bodyPr vert="horz" wrap="square" lIns="0" tIns="0" rIns="0" bIns="0" rtlCol="0">
            <a:noAutofit/>
          </a:bodyPr>
          <a:lstStyle/>
          <a:p>
            <a:r>
              <a:rPr lang="en-IN" sz="1300" b="1">
                <a:solidFill>
                  <a:srgbClr val="B42318"/>
                </a:solidFill>
                <a:latin typeface="Calibri" panose="020F0502020204030204" pitchFamily="34" charset="0"/>
              </a:rPr>
              <a:t>[TO FILL]</a:t>
            </a:r>
          </a:p>
        </p:txBody>
      </p:sp>
      <p:sp>
        <p:nvSpPr>
          <p:cNvPr id="24" name="TextBox 23">
            <a:extLst>
              <a:ext uri="{FF2B5EF4-FFF2-40B4-BE49-F238E27FC236}">
                <a16:creationId xmlns:a16="http://schemas.microsoft.com/office/drawing/2014/main" id="{95E19216-7E22-BAA8-667E-B1243E57B4D1}"/>
              </a:ext>
            </a:extLst>
          </p:cNvPr>
          <p:cNvSpPr txBox="1"/>
          <p:nvPr/>
        </p:nvSpPr>
        <p:spPr>
          <a:xfrm>
            <a:off x="8763000" y="3784600"/>
            <a:ext cx="2794000" cy="369332"/>
          </a:xfrm>
          <a:prstGeom prst="rect">
            <a:avLst/>
          </a:prstGeom>
          <a:noFill/>
        </p:spPr>
        <p:txBody>
          <a:bodyPr vert="horz" wrap="square" lIns="0" tIns="0" rIns="0" bIns="0" rtlCol="0">
            <a:noAutofit/>
          </a:bodyPr>
          <a:lstStyle/>
          <a:p>
            <a:r>
              <a:rPr lang="en-US" sz="1300" b="1">
                <a:solidFill>
                  <a:srgbClr val="B42318"/>
                </a:solidFill>
                <a:latin typeface="Calibri" panose="020F0502020204030204" pitchFamily="34" charset="0"/>
              </a:rPr>
              <a:t>[TO BE FILLED BY TEAM]</a:t>
            </a:r>
            <a:endParaRPr lang="en-IN" sz="1300" b="1">
              <a:solidFill>
                <a:srgbClr val="B42318"/>
              </a:solidFill>
              <a:latin typeface="Calibri" panose="020F0502020204030204" pitchFamily="34" charset="0"/>
            </a:endParaRPr>
          </a:p>
        </p:txBody>
      </p:sp>
      <p:cxnSp>
        <p:nvCxnSpPr>
          <p:cNvPr id="25" name="Straight Connector 24">
            <a:extLst>
              <a:ext uri="{FF2B5EF4-FFF2-40B4-BE49-F238E27FC236}">
                <a16:creationId xmlns:a16="http://schemas.microsoft.com/office/drawing/2014/main" id="{C612CDB1-69C7-8F6A-00A5-3306824D3148}"/>
              </a:ext>
            </a:extLst>
          </p:cNvPr>
          <p:cNvCxnSpPr/>
          <p:nvPr/>
        </p:nvCxnSpPr>
        <p:spPr>
          <a:xfrm>
            <a:off x="6223000" y="4165600"/>
            <a:ext cx="5334000" cy="0"/>
          </a:xfrm>
          <a:prstGeom prst="line">
            <a:avLst/>
          </a:prstGeom>
          <a:ln w="22225">
            <a:solidFill>
              <a:srgbClr val="1B1B1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0437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C49F1D-D9B2-20F9-DCC2-9B605555A4F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41100" y="177800"/>
            <a:ext cx="584200" cy="584200"/>
          </a:xfrm>
          <a:prstGeom prst="rect">
            <a:avLst/>
          </a:prstGeom>
        </p:spPr>
      </p:pic>
      <p:sp>
        <p:nvSpPr>
          <p:cNvPr id="4" name="Title">
            <a:extLst>
              <a:ext uri="{FF2B5EF4-FFF2-40B4-BE49-F238E27FC236}">
                <a16:creationId xmlns:a16="http://schemas.microsoft.com/office/drawing/2014/main" id="{82AA5F67-0598-E59E-9FA0-DE5620C165EF}"/>
              </a:ext>
            </a:extLst>
          </p:cNvPr>
          <p:cNvSpPr txBox="1"/>
          <p:nvPr/>
        </p:nvSpPr>
        <p:spPr>
          <a:xfrm>
            <a:off x="698500" y="482600"/>
            <a:ext cx="10414000" cy="369332"/>
          </a:xfrm>
          <a:prstGeom prst="rect">
            <a:avLst/>
          </a:prstGeom>
          <a:noFill/>
        </p:spPr>
        <p:txBody>
          <a:bodyPr vert="horz" wrap="square" lIns="0" tIns="0" rIns="0" bIns="0" rtlCol="0">
            <a:noAutofit/>
          </a:bodyPr>
          <a:lstStyle/>
          <a:p>
            <a:r>
              <a:rPr lang="en-IN" sz="3000" b="1">
                <a:solidFill>
                  <a:srgbClr val="17396B"/>
                </a:solidFill>
                <a:latin typeface="Calibri" panose="020F0502020204030204" pitchFamily="34" charset="0"/>
              </a:rPr>
              <a:t>Roadmap, Expected Outcomes &amp; References</a:t>
            </a:r>
          </a:p>
        </p:txBody>
      </p:sp>
      <p:cxnSp>
        <p:nvCxnSpPr>
          <p:cNvPr id="5" name="Straight Connector 4">
            <a:extLst>
              <a:ext uri="{FF2B5EF4-FFF2-40B4-BE49-F238E27FC236}">
                <a16:creationId xmlns:a16="http://schemas.microsoft.com/office/drawing/2014/main" id="{8D070808-BB07-B7FB-AD3A-0AC435E88A92}"/>
              </a:ext>
            </a:extLst>
          </p:cNvPr>
          <p:cNvCxnSpPr/>
          <p:nvPr/>
        </p:nvCxnSpPr>
        <p:spPr>
          <a:xfrm>
            <a:off x="698500" y="1320800"/>
            <a:ext cx="10795000" cy="0"/>
          </a:xfrm>
          <a:prstGeom prst="line">
            <a:avLst/>
          </a:prstGeom>
          <a:ln w="22225">
            <a:solidFill>
              <a:srgbClr val="17396B"/>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DEEE3DC-0695-CEB9-9877-D412417B21F0}"/>
              </a:ext>
            </a:extLst>
          </p:cNvPr>
          <p:cNvSpPr txBox="1"/>
          <p:nvPr/>
        </p:nvSpPr>
        <p:spPr>
          <a:xfrm>
            <a:off x="228600" y="6502400"/>
            <a:ext cx="8890000" cy="369332"/>
          </a:xfrm>
          <a:prstGeom prst="rect">
            <a:avLst/>
          </a:prstGeom>
          <a:noFill/>
        </p:spPr>
        <p:txBody>
          <a:bodyPr vert="horz" wrap="square" lIns="0" tIns="0" rIns="0" bIns="0" rtlCol="0">
            <a:noAutofit/>
          </a:bodyPr>
          <a:lstStyle/>
          <a:p>
            <a:r>
              <a:rPr lang="en-US" sz="1050">
                <a:solidFill>
                  <a:srgbClr val="17396B"/>
                </a:solidFill>
                <a:latin typeface="Calibri" panose="020F0502020204030204" pitchFamily="34" charset="0"/>
              </a:rPr>
              <a:t>Department of Computer Science &amp; Engineering — Graphic Era (Deemed to be University)</a:t>
            </a:r>
            <a:endParaRPr lang="en-IN" sz="1050">
              <a:solidFill>
                <a:srgbClr val="17396B"/>
              </a:solidFill>
              <a:latin typeface="Calibri" panose="020F0502020204030204" pitchFamily="34" charset="0"/>
            </a:endParaRPr>
          </a:p>
        </p:txBody>
      </p:sp>
      <p:sp>
        <p:nvSpPr>
          <p:cNvPr id="7" name="TextBox 6">
            <a:extLst>
              <a:ext uri="{FF2B5EF4-FFF2-40B4-BE49-F238E27FC236}">
                <a16:creationId xmlns:a16="http://schemas.microsoft.com/office/drawing/2014/main" id="{E7D43AD4-0024-A8D0-3883-6B8E47E369C1}"/>
              </a:ext>
            </a:extLst>
          </p:cNvPr>
          <p:cNvSpPr txBox="1"/>
          <p:nvPr/>
        </p:nvSpPr>
        <p:spPr>
          <a:xfrm>
            <a:off x="11049000" y="6502400"/>
            <a:ext cx="914400" cy="369332"/>
          </a:xfrm>
          <a:prstGeom prst="rect">
            <a:avLst/>
          </a:prstGeom>
          <a:noFill/>
        </p:spPr>
        <p:txBody>
          <a:bodyPr vert="horz" wrap="square" lIns="0" tIns="0" rIns="0" bIns="0" rtlCol="0">
            <a:noAutofit/>
          </a:bodyPr>
          <a:lstStyle/>
          <a:p>
            <a:pPr algn="r"/>
            <a:r>
              <a:rPr lang="en-IN" sz="1050">
                <a:solidFill>
                  <a:srgbClr val="1B1B1B"/>
                </a:solidFill>
                <a:latin typeface="Calibri" panose="020F0502020204030204" pitchFamily="34" charset="0"/>
              </a:rPr>
              <a:t>10/10</a:t>
            </a:r>
          </a:p>
        </p:txBody>
      </p:sp>
      <p:sp>
        <p:nvSpPr>
          <p:cNvPr id="8" name="TextBox 7">
            <a:extLst>
              <a:ext uri="{FF2B5EF4-FFF2-40B4-BE49-F238E27FC236}">
                <a16:creationId xmlns:a16="http://schemas.microsoft.com/office/drawing/2014/main" id="{050C2A89-BC5A-8981-4E3C-F3CC80552B9D}"/>
              </a:ext>
            </a:extLst>
          </p:cNvPr>
          <p:cNvSpPr txBox="1"/>
          <p:nvPr/>
        </p:nvSpPr>
        <p:spPr>
          <a:xfrm>
            <a:off x="698500" y="1549400"/>
            <a:ext cx="5334000" cy="369332"/>
          </a:xfrm>
          <a:prstGeom prst="rect">
            <a:avLst/>
          </a:prstGeom>
          <a:noFill/>
        </p:spPr>
        <p:txBody>
          <a:bodyPr vert="horz" wrap="square" lIns="0" tIns="0" rIns="0" bIns="0" rtlCol="0">
            <a:noAutofit/>
          </a:bodyPr>
          <a:lstStyle/>
          <a:p>
            <a:r>
              <a:rPr lang="en-IN" sz="2000" b="1">
                <a:solidFill>
                  <a:srgbClr val="17396B"/>
                </a:solidFill>
                <a:latin typeface="Calibri" panose="020F0502020204030204" pitchFamily="34" charset="0"/>
              </a:rPr>
              <a:t>Roadmap</a:t>
            </a:r>
          </a:p>
        </p:txBody>
      </p:sp>
      <p:sp>
        <p:nvSpPr>
          <p:cNvPr id="9" name="TextBox 8">
            <a:extLst>
              <a:ext uri="{FF2B5EF4-FFF2-40B4-BE49-F238E27FC236}">
                <a16:creationId xmlns:a16="http://schemas.microsoft.com/office/drawing/2014/main" id="{BEC4EB9D-0F7F-6DDB-D6C0-AC38EB35DB34}"/>
              </a:ext>
            </a:extLst>
          </p:cNvPr>
          <p:cNvSpPr txBox="1"/>
          <p:nvPr/>
        </p:nvSpPr>
        <p:spPr>
          <a:xfrm>
            <a:off x="698500" y="1955800"/>
            <a:ext cx="5461000" cy="369332"/>
          </a:xfrm>
          <a:prstGeom prst="rect">
            <a:avLst/>
          </a:prstGeom>
          <a:noFill/>
        </p:spPr>
        <p:txBody>
          <a:bodyPr vert="horz" wrap="square" lIns="0" tIns="0" rIns="0" bIns="0" rtlCol="0">
            <a:noAutofit/>
          </a:bodyPr>
          <a:lstStyle/>
          <a:p>
            <a:pPr marL="279400" indent="-279400">
              <a:spcAft>
                <a:spcPts val="500"/>
              </a:spcAft>
              <a:buClr>
                <a:srgbClr val="17396B"/>
              </a:buClr>
              <a:buFont typeface="+mj-lt"/>
              <a:buAutoNum type="arabicPeriod"/>
            </a:pPr>
            <a:r>
              <a:rPr lang="en-US" sz="1500">
                <a:solidFill>
                  <a:srgbClr val="1B1B1B"/>
                </a:solidFill>
                <a:latin typeface="Calibri" panose="020F0502020204030204" pitchFamily="34" charset="0"/>
              </a:rPr>
              <a:t>Phase-I: Proposal &amp; Design (completed)</a:t>
            </a:r>
          </a:p>
          <a:p>
            <a:pPr marL="279400" indent="-279400">
              <a:spcAft>
                <a:spcPts val="500"/>
              </a:spcAft>
              <a:buClr>
                <a:srgbClr val="17396B"/>
              </a:buClr>
              <a:buFont typeface="+mj-lt"/>
              <a:buAutoNum type="arabicPeriod"/>
            </a:pPr>
            <a:r>
              <a:rPr lang="en-US" sz="1500">
                <a:solidFill>
                  <a:srgbClr val="1B1B1B"/>
                </a:solidFill>
                <a:latin typeface="Calibri" panose="020F0502020204030204" pitchFamily="34" charset="0"/>
              </a:rPr>
              <a:t>Phase-II: Development (prototype, Modules 1–3)</a:t>
            </a:r>
          </a:p>
          <a:p>
            <a:pPr marL="279400" indent="-279400">
              <a:spcAft>
                <a:spcPts val="500"/>
              </a:spcAft>
              <a:buClr>
                <a:srgbClr val="17396B"/>
              </a:buClr>
              <a:buFont typeface="+mj-lt"/>
              <a:buAutoNum type="arabicPeriod"/>
            </a:pPr>
            <a:r>
              <a:rPr lang="en-US" sz="1500">
                <a:solidFill>
                  <a:srgbClr val="1B1B1B"/>
                </a:solidFill>
                <a:latin typeface="Calibri" panose="020F0502020204030204" pitchFamily="34" charset="0"/>
              </a:rPr>
              <a:t>Phase-III: Claims &amp; verification, admin, notifications, deployment</a:t>
            </a:r>
            <a:endParaRPr lang="en-IN" sz="1500">
              <a:solidFill>
                <a:srgbClr val="1B1B1B"/>
              </a:solidFill>
              <a:latin typeface="Calibri" panose="020F0502020204030204" pitchFamily="34" charset="0"/>
            </a:endParaRPr>
          </a:p>
        </p:txBody>
      </p:sp>
      <p:sp>
        <p:nvSpPr>
          <p:cNvPr id="10" name="TextBox 9">
            <a:extLst>
              <a:ext uri="{FF2B5EF4-FFF2-40B4-BE49-F238E27FC236}">
                <a16:creationId xmlns:a16="http://schemas.microsoft.com/office/drawing/2014/main" id="{FDB4D484-78D2-E9C0-7A51-EA3373BA43D1}"/>
              </a:ext>
            </a:extLst>
          </p:cNvPr>
          <p:cNvSpPr txBox="1"/>
          <p:nvPr/>
        </p:nvSpPr>
        <p:spPr>
          <a:xfrm>
            <a:off x="698500" y="3683000"/>
            <a:ext cx="5334000" cy="369332"/>
          </a:xfrm>
          <a:prstGeom prst="rect">
            <a:avLst/>
          </a:prstGeom>
          <a:noFill/>
        </p:spPr>
        <p:txBody>
          <a:bodyPr vert="horz" wrap="square" lIns="0" tIns="0" rIns="0" bIns="0" rtlCol="0">
            <a:noAutofit/>
          </a:bodyPr>
          <a:lstStyle/>
          <a:p>
            <a:r>
              <a:rPr lang="en-IN" sz="2000" b="1">
                <a:solidFill>
                  <a:srgbClr val="17396B"/>
                </a:solidFill>
                <a:latin typeface="Calibri" panose="020F0502020204030204" pitchFamily="34" charset="0"/>
              </a:rPr>
              <a:t>Expected Outcomes</a:t>
            </a:r>
          </a:p>
        </p:txBody>
      </p:sp>
      <p:sp>
        <p:nvSpPr>
          <p:cNvPr id="11" name="TextBox 10">
            <a:extLst>
              <a:ext uri="{FF2B5EF4-FFF2-40B4-BE49-F238E27FC236}">
                <a16:creationId xmlns:a16="http://schemas.microsoft.com/office/drawing/2014/main" id="{5EF634C2-2EDD-035C-2793-6D2C4D3C7B91}"/>
              </a:ext>
            </a:extLst>
          </p:cNvPr>
          <p:cNvSpPr txBox="1"/>
          <p:nvPr/>
        </p:nvSpPr>
        <p:spPr>
          <a:xfrm>
            <a:off x="698500" y="4089400"/>
            <a:ext cx="5461000" cy="369332"/>
          </a:xfrm>
          <a:prstGeom prst="rect">
            <a:avLst/>
          </a:prstGeom>
          <a:noFill/>
        </p:spPr>
        <p:txBody>
          <a:bodyPr vert="horz" wrap="square" lIns="0" tIns="0" rIns="0" bIns="0" rtlCol="0">
            <a:noAutofit/>
          </a:bodyPr>
          <a:lstStyle/>
          <a:p>
            <a:pPr marL="279400" indent="-279400">
              <a:spcAft>
                <a:spcPts val="400"/>
              </a:spcAft>
              <a:buClr>
                <a:srgbClr val="17396B"/>
              </a:buClr>
              <a:buSzPct val="75000"/>
              <a:buFont typeface="+mj-lt"/>
              <a:buChar char="▶"/>
            </a:pPr>
            <a:r>
              <a:rPr lang="en-US" sz="1500">
                <a:solidFill>
                  <a:srgbClr val="1B1B1B"/>
                </a:solidFill>
                <a:latin typeface="Calibri" panose="020F0502020204030204" pitchFamily="34" charset="0"/>
              </a:rPr>
              <a:t>Working prototype: register, report, browse, match</a:t>
            </a:r>
          </a:p>
          <a:p>
            <a:pPr marL="279400" indent="-279400">
              <a:spcAft>
                <a:spcPts val="400"/>
              </a:spcAft>
              <a:buClr>
                <a:srgbClr val="17396B"/>
              </a:buClr>
              <a:buSzPct val="75000"/>
              <a:buFont typeface="+mj-lt"/>
              <a:buChar char="▶"/>
            </a:pPr>
            <a:r>
              <a:rPr lang="en-US" sz="1500">
                <a:solidFill>
                  <a:srgbClr val="1B1B1B"/>
                </a:solidFill>
                <a:latin typeface="Calibri" panose="020F0502020204030204" pitchFamily="34" charset="0"/>
              </a:rPr>
              <a:t>Measurable: 23 / 23 tests; deterministic scores</a:t>
            </a:r>
          </a:p>
          <a:p>
            <a:pPr marL="279400" indent="-279400">
              <a:spcAft>
                <a:spcPts val="400"/>
              </a:spcAft>
              <a:buClr>
                <a:srgbClr val="17396B"/>
              </a:buClr>
              <a:buSzPct val="75000"/>
              <a:buFont typeface="+mj-lt"/>
              <a:buChar char="▶"/>
            </a:pPr>
            <a:r>
              <a:rPr lang="en-US" sz="1500">
                <a:solidFill>
                  <a:srgbClr val="1B1B1B"/>
                </a:solidFill>
                <a:latin typeface="Calibri" panose="020F0502020204030204" pitchFamily="34" charset="0"/>
              </a:rPr>
              <a:t>Practical: replaces fragmented manual reporting</a:t>
            </a:r>
          </a:p>
          <a:p>
            <a:pPr marL="279400" indent="-279400">
              <a:spcAft>
                <a:spcPts val="400"/>
              </a:spcAft>
              <a:buClr>
                <a:srgbClr val="17396B"/>
              </a:buClr>
              <a:buSzPct val="75000"/>
              <a:buFont typeface="+mj-lt"/>
              <a:buChar char="▶"/>
            </a:pPr>
            <a:r>
              <a:rPr lang="en-US" sz="1500">
                <a:solidFill>
                  <a:srgbClr val="1B1B1B"/>
                </a:solidFill>
                <a:latin typeface="Calibri" panose="020F0502020204030204" pitchFamily="34" charset="0"/>
              </a:rPr>
              <a:t>Scalable: deployment, background matching</a:t>
            </a:r>
            <a:endParaRPr lang="en-IN" sz="1500">
              <a:solidFill>
                <a:srgbClr val="1B1B1B"/>
              </a:solidFill>
              <a:latin typeface="Calibri" panose="020F0502020204030204" pitchFamily="34" charset="0"/>
            </a:endParaRPr>
          </a:p>
        </p:txBody>
      </p:sp>
      <p:sp>
        <p:nvSpPr>
          <p:cNvPr id="12" name="TextBox 11">
            <a:extLst>
              <a:ext uri="{FF2B5EF4-FFF2-40B4-BE49-F238E27FC236}">
                <a16:creationId xmlns:a16="http://schemas.microsoft.com/office/drawing/2014/main" id="{5DD0077A-964D-51F6-70EC-5133B6AB380F}"/>
              </a:ext>
            </a:extLst>
          </p:cNvPr>
          <p:cNvSpPr txBox="1"/>
          <p:nvPr/>
        </p:nvSpPr>
        <p:spPr>
          <a:xfrm>
            <a:off x="6604000" y="1549400"/>
            <a:ext cx="5080000" cy="369332"/>
          </a:xfrm>
          <a:prstGeom prst="rect">
            <a:avLst/>
          </a:prstGeom>
          <a:noFill/>
        </p:spPr>
        <p:txBody>
          <a:bodyPr vert="horz" wrap="square" lIns="0" tIns="0" rIns="0" bIns="0" rtlCol="0">
            <a:noAutofit/>
          </a:bodyPr>
          <a:lstStyle/>
          <a:p>
            <a:r>
              <a:rPr lang="en-IN" sz="2000" b="1">
                <a:solidFill>
                  <a:srgbClr val="17396B"/>
                </a:solidFill>
                <a:latin typeface="Calibri" panose="020F0502020204030204" pitchFamily="34" charset="0"/>
              </a:rPr>
              <a:t>References</a:t>
            </a:r>
          </a:p>
        </p:txBody>
      </p:sp>
      <p:sp>
        <p:nvSpPr>
          <p:cNvPr id="13" name="TextBox 12">
            <a:extLst>
              <a:ext uri="{FF2B5EF4-FFF2-40B4-BE49-F238E27FC236}">
                <a16:creationId xmlns:a16="http://schemas.microsoft.com/office/drawing/2014/main" id="{197DDD4D-8971-E82E-C208-4716ED39C4B2}"/>
              </a:ext>
            </a:extLst>
          </p:cNvPr>
          <p:cNvSpPr txBox="1"/>
          <p:nvPr/>
        </p:nvSpPr>
        <p:spPr>
          <a:xfrm>
            <a:off x="6604000" y="1955800"/>
            <a:ext cx="4953000" cy="369332"/>
          </a:xfrm>
          <a:prstGeom prst="rect">
            <a:avLst/>
          </a:prstGeom>
          <a:noFill/>
        </p:spPr>
        <p:txBody>
          <a:bodyPr vert="horz" wrap="square" lIns="0" tIns="0" rIns="0" bIns="0" rtlCol="0">
            <a:noAutofit/>
          </a:bodyPr>
          <a:lstStyle/>
          <a:p>
            <a:pPr marL="279400" indent="-279400">
              <a:spcAft>
                <a:spcPts val="500"/>
              </a:spcAft>
              <a:buClr>
                <a:srgbClr val="17396B"/>
              </a:buClr>
              <a:buFont typeface="+mj-lt"/>
              <a:buAutoNum type="arabicPeriod"/>
            </a:pPr>
            <a:r>
              <a:rPr lang="en-IN" sz="1400">
                <a:solidFill>
                  <a:srgbClr val="1B1B1B"/>
                </a:solidFill>
                <a:latin typeface="Calibri" panose="020F0502020204030204" pitchFamily="34" charset="0"/>
              </a:rPr>
              <a:t>ReClaim Phase-I Proposal (Team Vision, 2026)</a:t>
            </a:r>
          </a:p>
          <a:p>
            <a:pPr marL="279400" indent="-279400">
              <a:spcAft>
                <a:spcPts val="500"/>
              </a:spcAft>
              <a:buClr>
                <a:srgbClr val="17396B"/>
              </a:buClr>
              <a:buFont typeface="+mj-lt"/>
              <a:buAutoNum type="arabicPeriod"/>
            </a:pPr>
            <a:r>
              <a:rPr lang="en-IN" sz="1400">
                <a:solidFill>
                  <a:srgbClr val="1B1B1B"/>
                </a:solidFill>
                <a:latin typeface="Calibri" panose="020F0502020204030204" pitchFamily="34" charset="0"/>
              </a:rPr>
              <a:t>Jakarta Servlet 6.0 &amp; JSP 3.1 specifications</a:t>
            </a:r>
          </a:p>
          <a:p>
            <a:pPr marL="279400" indent="-279400">
              <a:spcAft>
                <a:spcPts val="500"/>
              </a:spcAft>
              <a:buClr>
                <a:srgbClr val="17396B"/>
              </a:buClr>
              <a:buFont typeface="+mj-lt"/>
              <a:buAutoNum type="arabicPeriod"/>
            </a:pPr>
            <a:r>
              <a:rPr lang="en-IN" sz="1400">
                <a:solidFill>
                  <a:srgbClr val="1B1B1B"/>
                </a:solidFill>
                <a:latin typeface="Calibri" panose="020F0502020204030204" pitchFamily="34" charset="0"/>
              </a:rPr>
              <a:t>Apache Tomcat 10.1 &amp; Apache Maven documentation</a:t>
            </a:r>
          </a:p>
          <a:p>
            <a:pPr marL="279400" indent="-279400">
              <a:spcAft>
                <a:spcPts val="500"/>
              </a:spcAft>
              <a:buClr>
                <a:srgbClr val="17396B"/>
              </a:buClr>
              <a:buFont typeface="+mj-lt"/>
              <a:buAutoNum type="arabicPeriod"/>
            </a:pPr>
            <a:r>
              <a:rPr lang="en-IN" sz="1400">
                <a:solidFill>
                  <a:srgbClr val="1B1B1B"/>
                </a:solidFill>
                <a:latin typeface="Calibri" panose="020F0502020204030204" pitchFamily="34" charset="0"/>
              </a:rPr>
              <a:t>Oracle Java SE / JDBC; MySQL Connector/J; MariaDB documentation</a:t>
            </a:r>
          </a:p>
        </p:txBody>
      </p:sp>
      <p:sp>
        <p:nvSpPr>
          <p:cNvPr id="14" name="Rectangle 13">
            <a:extLst>
              <a:ext uri="{FF2B5EF4-FFF2-40B4-BE49-F238E27FC236}">
                <a16:creationId xmlns:a16="http://schemas.microsoft.com/office/drawing/2014/main" id="{CC7F6138-45E9-F3C5-E5CF-000BE46B4B3E}"/>
              </a:ext>
            </a:extLst>
          </p:cNvPr>
          <p:cNvSpPr/>
          <p:nvPr/>
        </p:nvSpPr>
        <p:spPr>
          <a:xfrm>
            <a:off x="7112000" y="4826000"/>
            <a:ext cx="4064000" cy="889000"/>
          </a:xfrm>
          <a:prstGeom prst="rect">
            <a:avLst/>
          </a:prstGeom>
          <a:solidFill>
            <a:srgbClr val="173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a:solidFill>
                  <a:srgbClr val="FFFFFF"/>
                </a:solidFill>
                <a:latin typeface="Calibri" panose="020F0502020204030204" pitchFamily="34" charset="0"/>
              </a:rPr>
              <a:t>Thank You</a:t>
            </a:r>
          </a:p>
          <a:p>
            <a:pPr algn="ctr"/>
            <a:r>
              <a:rPr lang="en-IN">
                <a:solidFill>
                  <a:srgbClr val="FFFFFF"/>
                </a:solidFill>
                <a:latin typeface="Calibri" panose="020F0502020204030204" pitchFamily="34" charset="0"/>
              </a:rPr>
              <a:t>Questions &amp; Suggestions</a:t>
            </a:r>
          </a:p>
        </p:txBody>
      </p:sp>
    </p:spTree>
    <p:extLst>
      <p:ext uri="{BB962C8B-B14F-4D97-AF65-F5344CB8AC3E}">
        <p14:creationId xmlns:p14="http://schemas.microsoft.com/office/powerpoint/2010/main" val="28635722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1440</Words>
  <Application>Microsoft Office PowerPoint</Application>
  <PresentationFormat>Custom</PresentationFormat>
  <Paragraphs>193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Kartik Maithani</dc:creator>
  <cp:lastModifiedBy>Kartik Maithani</cp:lastModifiedBy>
  <cp:revision>1</cp:revision>
  <dcterms:created xsi:type="dcterms:W3CDTF">2026-10-08T23:51:35Z</dcterms:created>
  <dcterms:modified xsi:type="dcterms:W3CDTF">2026-10-08T23:51:35Z</dcterms:modified>
</cp:coreProperties>
</file>